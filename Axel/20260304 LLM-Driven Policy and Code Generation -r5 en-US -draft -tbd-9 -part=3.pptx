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4" r:id="rId2"/>
    <p:sldId id="265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D45"/>
    <a:srgbClr val="AFF4C6"/>
    <a:srgbClr val="D1ECFF"/>
    <a:srgbClr val="050718"/>
    <a:srgbClr val="E97132"/>
    <a:srgbClr val="6B8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3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83354-5A36-47E3-A111-60C3F865B5E0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A6B74-D9C4-4AC9-9116-8EB3D84582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8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2F9E3-9E98-FCDB-D1C7-BB5A81279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0CB12-2802-5A83-FE15-50220A993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5C67C6-628E-00CE-64FC-7BB6EE84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756C62-7AC0-45CE-C31F-07E39A36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9803E-FC0F-9D34-079A-76CF9900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26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86476-2455-3F01-92BA-4F2E1421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C80E41-BB1B-1E21-1FDE-5D932611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FDFDC7-01F0-E6A0-45B2-885A1192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BE224-EC0E-A916-9950-4DB4C628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EAA2C4-CE27-1216-59BC-503A437C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51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9E1185-8428-7A13-4470-2F193508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3540C5-941A-785D-5391-4210DC718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AEBE1A-C892-C62B-04C4-B02AF848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7FBF31-71A4-08F9-A606-76472177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913D9D-725C-AD4B-698C-827FB55D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86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BD93B-9DB3-13C3-5FE1-572B352B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AC83D-0573-EC9F-3737-D9D946E31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8468D6-26EE-F784-B2B2-7CAF0EEA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91057E-E02B-93EC-7638-BF8BB0D5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1E6E78-5C2F-8421-4981-605800A5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B137EA-DA66-9821-ED78-7225C114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15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7DCF3-0213-254B-439B-3B2D4A1B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B6C595-7576-A172-3177-CC39C0E7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0752CD-FF9B-23A1-87FA-4F0C5A1F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8C6F60-563F-B10C-B2BC-0C3F850DA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1D453-256F-15A0-15CE-9AFD834E5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BBF07E-A905-D8FB-4C45-FA6BFFE9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335ECA-B384-1B53-3581-859DF9C6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1886FA-2128-18BB-DABB-3C51D9D2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91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5317E-4576-BF51-A796-08D33DC2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3F79AA-A2F7-473B-B747-6325AC24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C1D8C0-FDE4-25E5-5B52-ECA06275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985BC7-A6BC-7D3A-507B-4D62F42F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20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B98D2E-9AB2-73C3-4FEA-EBDA4BEF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0E8E18-B48F-A508-EDBD-0891CF3C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D0284D-C393-0D83-3168-4E94E589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62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1589C-AA10-5A77-14B1-DA6BB1B6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650C88-AF90-797B-AF00-F70689C4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1B770A-D623-16F3-342C-0BD503BE0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00E30D-DEAD-ADF0-18E5-C52634DF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F7F624-B3A5-5B15-C89C-C01786FA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2F5667-3D9C-038E-5814-87F92DAB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2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62E92-0374-21DE-E94F-5A3F1B1A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2DB591D-AE30-B5D0-5446-96B95E5AC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B0CD26-508F-4AAD-2EB2-292BC3EEA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0290AE-DB33-4008-7ABC-980CE1D4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2350D7-80FD-E5B2-0306-F4B466AD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23477D-0F73-C07E-8C8B-C4D6BE86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19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1CB04-C277-35DE-922B-BA896209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33CD77-4486-CBB0-62DA-000DCDDE2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709EC-99D2-AF9C-FCF3-FE5B4D70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885684-014B-242A-B273-0A7620D4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B87B35-20BC-4001-9140-5B22C84C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69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B7F48C0-6527-91AF-8DBF-C0E7B5409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5AAE69-093E-4A7C-94A5-D6D052613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2A23DA-40AB-49DA-5478-E480D5EB8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82BF27-4038-AF5E-8C5F-4485FB5A9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669AB-1FCB-D9E1-8291-3468C2C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6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1187C94-4E82-0C14-1B77-A4FC36B6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Edit master title format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0269F2-CFE8-76EF-ED9C-2916FE8F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499FE2-3142-8799-3A89-AF00BAEEE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4FDF2-67D4-43BB-BDAC-7B835603A1D8}" type="datetimeFigureOut">
              <a:rPr lang="de-DE" smtClean="0"/>
              <a:t>27.02.2026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808D97-0F25-EDD1-854D-87454DE6A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CE9E3-4449-48B6-8A68-AEBC50E37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C106-AAD1-4D3C-A9E4-50EFA6645B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070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cam.e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N/TXT/?uri=OJ:L_202401689" TargetMode="External"/><Relationship Id="rId2" Type="http://schemas.openxmlformats.org/officeDocument/2006/relationships/hyperlink" Target="https://eur-lex.europa.eu/eli/reg/2024/2847/o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D718D7-018B-3AF2-CE20-4CE9CEBBC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e-DE" sz="5600" b="1" dirty="0">
                <a:solidFill>
                  <a:schemeClr val="bg1"/>
                </a:solidFill>
              </a:rPr>
              <a:t>Historical </a:t>
            </a:r>
            <a:r>
              <a:rPr lang="de-DE" sz="5600" b="1" dirty="0" err="1">
                <a:solidFill>
                  <a:schemeClr val="bg1"/>
                </a:solidFill>
              </a:rPr>
              <a:t>context</a:t>
            </a:r>
            <a:r>
              <a:rPr lang="de-DE" sz="5600" b="1" dirty="0">
                <a:solidFill>
                  <a:schemeClr val="bg1"/>
                </a:solidFill>
              </a:rPr>
              <a:t>: Automotive security</a:t>
            </a:r>
            <a:endParaRPr lang="de-DE" sz="56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A9A74C-225C-1D9C-44CC-AC47BC8CA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Classic vehicle </a:t>
            </a:r>
            <a:r>
              <a:rPr lang="de-DE" sz="2000" dirty="0" err="1">
                <a:solidFill>
                  <a:schemeClr val="bg1"/>
                </a:solidFill>
              </a:rPr>
              <a:t>architectures</a:t>
            </a:r>
            <a:r>
              <a:rPr lang="de-DE" sz="2000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de-DE" sz="2000" dirty="0" err="1">
                <a:solidFill>
                  <a:schemeClr val="bg1"/>
                </a:solidFill>
              </a:rPr>
              <a:t>Closed</a:t>
            </a:r>
            <a:r>
              <a:rPr lang="de-DE" sz="2000" dirty="0">
                <a:solidFill>
                  <a:schemeClr val="bg1"/>
                </a:solidFill>
              </a:rPr>
              <a:t> systems</a:t>
            </a:r>
          </a:p>
          <a:p>
            <a:pPr lvl="1"/>
            <a:r>
              <a:rPr lang="de-DE" sz="2000" dirty="0">
                <a:solidFill>
                  <a:schemeClr val="bg1"/>
                </a:solidFill>
              </a:rPr>
              <a:t>Perimeter-</a:t>
            </a:r>
            <a:r>
              <a:rPr lang="de-DE" sz="2000" dirty="0" err="1">
                <a:solidFill>
                  <a:schemeClr val="bg1"/>
                </a:solidFill>
              </a:rPr>
              <a:t>based</a:t>
            </a:r>
            <a:r>
              <a:rPr lang="de-DE" sz="2000" dirty="0">
                <a:solidFill>
                  <a:schemeClr val="bg1"/>
                </a:solidFill>
              </a:rPr>
              <a:t> security</a:t>
            </a:r>
          </a:p>
          <a:p>
            <a:r>
              <a:rPr lang="de-DE" sz="2000" dirty="0">
                <a:solidFill>
                  <a:schemeClr val="bg1"/>
                </a:solidFill>
              </a:rPr>
              <a:t>Access </a:t>
            </a:r>
            <a:r>
              <a:rPr lang="de-DE" sz="2000" dirty="0" err="1">
                <a:solidFill>
                  <a:schemeClr val="bg1"/>
                </a:solidFill>
              </a:rPr>
              <a:t>control</a:t>
            </a:r>
            <a:r>
              <a:rPr lang="de-DE" sz="2000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de-DE" sz="2000" dirty="0" err="1">
                <a:solidFill>
                  <a:schemeClr val="bg1"/>
                </a:solidFill>
              </a:rPr>
              <a:t>Role-based</a:t>
            </a:r>
            <a:r>
              <a:rPr lang="de-DE" sz="2000" dirty="0">
                <a:solidFill>
                  <a:schemeClr val="bg1"/>
                </a:solidFill>
              </a:rPr>
              <a:t> (RBAC)</a:t>
            </a:r>
          </a:p>
          <a:p>
            <a:pPr lvl="1"/>
            <a:r>
              <a:rPr lang="de-DE" sz="2000" dirty="0">
                <a:solidFill>
                  <a:schemeClr val="bg1"/>
                </a:solidFill>
              </a:rPr>
              <a:t>Static policies</a:t>
            </a:r>
          </a:p>
          <a:p>
            <a:r>
              <a:rPr lang="de-DE" sz="2000" dirty="0">
                <a:solidFill>
                  <a:schemeClr val="bg1"/>
                </a:solidFill>
              </a:rPr>
              <a:t>Supply </a:t>
            </a:r>
            <a:r>
              <a:rPr lang="de-DE" sz="2000" dirty="0" err="1">
                <a:solidFill>
                  <a:schemeClr val="bg1"/>
                </a:solidFill>
              </a:rPr>
              <a:t>chains</a:t>
            </a:r>
            <a:r>
              <a:rPr lang="de-DE" sz="2000" dirty="0">
                <a:solidFill>
                  <a:schemeClr val="bg1"/>
                </a:solidFill>
              </a:rPr>
              <a:t>: linear, </a:t>
            </a:r>
            <a:r>
              <a:rPr lang="de-DE" sz="2000" dirty="0" err="1">
                <a:solidFill>
                  <a:schemeClr val="bg1"/>
                </a:solidFill>
              </a:rPr>
              <a:t>local</a:t>
            </a:r>
            <a:endParaRPr lang="de-DE" sz="2000" dirty="0">
              <a:solidFill>
                <a:schemeClr val="bg1"/>
              </a:solidFill>
            </a:endParaRPr>
          </a:p>
          <a:p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b="1" dirty="0">
                <a:solidFill>
                  <a:srgbClr val="E97132"/>
                </a:solidFill>
              </a:rPr>
              <a:t>Problem:</a:t>
            </a:r>
            <a:br>
              <a:rPr lang="de-DE" sz="2000" dirty="0">
                <a:solidFill>
                  <a:srgbClr val="E97132"/>
                </a:solidFill>
              </a:rPr>
            </a:br>
            <a:r>
              <a:rPr lang="de-DE" sz="2000" dirty="0">
                <a:solidFill>
                  <a:srgbClr val="E97132"/>
                </a:solidFill>
              </a:rPr>
              <a:t>These </a:t>
            </a:r>
            <a:r>
              <a:rPr lang="de-DE" sz="2000" dirty="0" err="1">
                <a:solidFill>
                  <a:srgbClr val="E97132"/>
                </a:solidFill>
              </a:rPr>
              <a:t>models</a:t>
            </a:r>
            <a:r>
              <a:rPr lang="de-DE" sz="2000" dirty="0">
                <a:solidFill>
                  <a:srgbClr val="E97132"/>
                </a:solidFill>
              </a:rPr>
              <a:t> no </a:t>
            </a:r>
            <a:r>
              <a:rPr lang="de-DE" sz="2000" dirty="0" err="1">
                <a:solidFill>
                  <a:srgbClr val="E97132"/>
                </a:solidFill>
              </a:rPr>
              <a:t>longer</a:t>
            </a:r>
            <a:r>
              <a:rPr lang="de-DE" sz="2000" dirty="0">
                <a:solidFill>
                  <a:srgbClr val="E97132"/>
                </a:solidFill>
              </a:rPr>
              <a:t> </a:t>
            </a:r>
            <a:r>
              <a:rPr lang="de-DE" sz="2000" dirty="0" err="1">
                <a:solidFill>
                  <a:srgbClr val="E97132"/>
                </a:solidFill>
              </a:rPr>
              <a:t>work</a:t>
            </a:r>
            <a:r>
              <a:rPr lang="de-DE" sz="2000" dirty="0">
                <a:solidFill>
                  <a:srgbClr val="E97132"/>
                </a:solidFill>
              </a:rPr>
              <a:t> in global, software-</a:t>
            </a:r>
            <a:r>
              <a:rPr lang="de-DE" sz="2000" dirty="0" err="1">
                <a:solidFill>
                  <a:srgbClr val="E97132"/>
                </a:solidFill>
              </a:rPr>
              <a:t>defined</a:t>
            </a:r>
            <a:r>
              <a:rPr lang="de-DE" sz="2000" dirty="0">
                <a:solidFill>
                  <a:srgbClr val="E97132"/>
                </a:solidFill>
              </a:rPr>
              <a:t> vehicle </a:t>
            </a:r>
            <a:r>
              <a:rPr lang="de-DE" sz="2000" dirty="0" err="1">
                <a:solidFill>
                  <a:srgbClr val="E97132"/>
                </a:solidFill>
              </a:rPr>
              <a:t>ecosystems</a:t>
            </a:r>
            <a:r>
              <a:rPr lang="de-DE" sz="2000" dirty="0">
                <a:solidFill>
                  <a:srgbClr val="E97132"/>
                </a:solidFill>
              </a:rPr>
              <a:t>.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93D7570-7F54-656D-B5EF-323DC07E0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E0C177C-C2D5-213F-CB2C-0C2A4E44BCE1}"/>
              </a:ext>
            </a:extLst>
          </p:cNvPr>
          <p:cNvSpPr txBox="1"/>
          <p:nvPr/>
        </p:nvSpPr>
        <p:spPr>
          <a:xfrm>
            <a:off x="951545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E0D74C7-FE97-EE2B-8330-4580FED6B1F9}"/>
              </a:ext>
            </a:extLst>
          </p:cNvPr>
          <p:cNvGrpSpPr/>
          <p:nvPr/>
        </p:nvGrpSpPr>
        <p:grpSpPr>
          <a:xfrm>
            <a:off x="3737989" y="4586378"/>
            <a:ext cx="2541824" cy="1839813"/>
            <a:chOff x="4001648" y="4770133"/>
            <a:chExt cx="2541824" cy="1839813"/>
          </a:xfrm>
        </p:grpSpPr>
        <p:pic>
          <p:nvPicPr>
            <p:cNvPr id="12290" name="Picture 2" descr="Zero Trust in real time | Omnissa">
              <a:extLst>
                <a:ext uri="{FF2B5EF4-FFF2-40B4-BE49-F238E27FC236}">
                  <a16:creationId xmlns:a16="http://schemas.microsoft.com/office/drawing/2014/main" id="{04CD73AA-2BA3-1988-0E3F-4BAAB9AAEF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1648" y="4770133"/>
              <a:ext cx="2541824" cy="1819801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5282C494-D99F-1BA1-AE62-46E3A014B32B}"/>
                </a:ext>
              </a:extLst>
            </p:cNvPr>
            <p:cNvGrpSpPr/>
            <p:nvPr/>
          </p:nvGrpSpPr>
          <p:grpSpPr>
            <a:xfrm>
              <a:off x="4609136" y="6152746"/>
              <a:ext cx="457200" cy="457200"/>
              <a:chOff x="7890750" y="5906383"/>
              <a:chExt cx="457200" cy="457200"/>
            </a:xfrm>
          </p:grpSpPr>
          <p:sp>
            <p:nvSpPr>
              <p:cNvPr id="18" name="Gleichschenkliges Dreieck 17">
                <a:extLst>
                  <a:ext uri="{FF2B5EF4-FFF2-40B4-BE49-F238E27FC236}">
                    <a16:creationId xmlns:a16="http://schemas.microsoft.com/office/drawing/2014/main" id="{27B68B55-60D7-2482-68E1-C72A10E7E808}"/>
                  </a:ext>
                </a:extLst>
              </p:cNvPr>
              <p:cNvSpPr/>
              <p:nvPr/>
            </p:nvSpPr>
            <p:spPr>
              <a:xfrm>
                <a:off x="7921555" y="5959885"/>
                <a:ext cx="395591" cy="350195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6" name="Grafik 15" descr="Biogefährdung mit einfarbiger Füllung">
                <a:extLst>
                  <a:ext uri="{FF2B5EF4-FFF2-40B4-BE49-F238E27FC236}">
                    <a16:creationId xmlns:a16="http://schemas.microsoft.com/office/drawing/2014/main" id="{50F84208-769C-2CD0-608D-7510787D73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890750" y="5906383"/>
                <a:ext cx="457200" cy="457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42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29F778-3EA6-18CB-1F82-F42CB400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e-DE" sz="5600" b="1" dirty="0">
                <a:solidFill>
                  <a:schemeClr val="bg1"/>
                </a:solidFill>
              </a:rPr>
              <a:t>The </a:t>
            </a:r>
            <a:r>
              <a:rPr lang="de-DE" sz="5600" b="1" dirty="0" err="1">
                <a:solidFill>
                  <a:schemeClr val="bg1"/>
                </a:solidFill>
              </a:rPr>
              <a:t>Paradigm</a:t>
            </a:r>
            <a:r>
              <a:rPr lang="de-DE" sz="5600" b="1" dirty="0">
                <a:solidFill>
                  <a:schemeClr val="bg1"/>
                </a:solidFill>
              </a:rPr>
              <a:t> Shift</a:t>
            </a:r>
            <a:br>
              <a:rPr lang="de-DE" sz="5400" b="1" dirty="0">
                <a:solidFill>
                  <a:schemeClr val="bg1"/>
                </a:solidFill>
              </a:rPr>
            </a:br>
            <a:endParaRPr lang="de-DE" sz="54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EB196F-6827-E639-B7D6-D02422367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19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With</a:t>
            </a:r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CCAM</a:t>
            </a:r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de-DE" sz="14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Connected</a:t>
            </a:r>
            <a:r>
              <a:rPr lang="de-DE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Cooperative</a:t>
            </a:r>
            <a:r>
              <a:rPr lang="de-DE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&amp; </a:t>
            </a:r>
            <a:r>
              <a:rPr lang="de-DE" sz="14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Automated</a:t>
            </a:r>
            <a:r>
              <a:rPr lang="de-DE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Mobility</a:t>
            </a:r>
          </a:p>
          <a:p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Over-</a:t>
            </a:r>
            <a:r>
              <a:rPr lang="de-DE" sz="19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the</a:t>
            </a:r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</a:t>
            </a:r>
            <a:r>
              <a:rPr lang="de-DE" sz="19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air</a:t>
            </a:r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19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updates</a:t>
            </a:r>
            <a:endParaRPr lang="de-DE" sz="19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Global Development and Supplier Networks</a:t>
            </a:r>
          </a:p>
          <a:p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Automotive </a:t>
            </a:r>
            <a:r>
              <a:rPr lang="de-DE" sz="19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development</a:t>
            </a:r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19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data</a:t>
            </a:r>
            <a:r>
              <a:rPr lang="de-DE" sz="1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19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spaces</a:t>
            </a:r>
            <a:endParaRPr lang="de-DE" sz="19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de-DE" sz="1900" dirty="0">
                <a:solidFill>
                  <a:srgbClr val="E97132"/>
                </a:solidFill>
              </a:rPr>
              <a:t>The </a:t>
            </a:r>
            <a:r>
              <a:rPr lang="de-DE" sz="1900" dirty="0" err="1">
                <a:solidFill>
                  <a:srgbClr val="E97132"/>
                </a:solidFill>
              </a:rPr>
              <a:t>result</a:t>
            </a:r>
            <a:r>
              <a:rPr lang="de-DE" sz="1900" dirty="0">
                <a:solidFill>
                  <a:srgbClr val="E97132"/>
                </a:solidFill>
              </a:rPr>
              <a:t>:</a:t>
            </a:r>
          </a:p>
          <a:p>
            <a:pPr marL="0" indent="0">
              <a:buNone/>
            </a:pPr>
            <a:endParaRPr lang="de-DE" sz="1900" dirty="0">
              <a:solidFill>
                <a:srgbClr val="E97132"/>
              </a:solidFill>
            </a:endParaRPr>
          </a:p>
          <a:p>
            <a:pPr marL="0" indent="0">
              <a:buNone/>
            </a:pPr>
            <a:r>
              <a:rPr lang="de-DE" sz="1900" b="1" dirty="0">
                <a:solidFill>
                  <a:srgbClr val="E97132"/>
                </a:solidFill>
              </a:rPr>
              <a:t>Dynamic, </a:t>
            </a:r>
            <a:r>
              <a:rPr lang="de-DE" sz="1900" b="1" dirty="0" err="1">
                <a:solidFill>
                  <a:srgbClr val="E97132"/>
                </a:solidFill>
              </a:rPr>
              <a:t>context-dependent</a:t>
            </a:r>
            <a:r>
              <a:rPr lang="de-DE" sz="1900" b="1" dirty="0">
                <a:solidFill>
                  <a:srgbClr val="E97132"/>
                </a:solidFill>
              </a:rPr>
              <a:t>, </a:t>
            </a:r>
            <a:r>
              <a:rPr lang="de-DE" sz="1900" b="1" dirty="0" err="1">
                <a:solidFill>
                  <a:srgbClr val="E97132"/>
                </a:solidFill>
              </a:rPr>
              <a:t>cross</a:t>
            </a:r>
            <a:r>
              <a:rPr lang="de-DE" sz="1900" b="1" dirty="0">
                <a:solidFill>
                  <a:srgbClr val="E97132"/>
                </a:solidFill>
              </a:rPr>
              <a:t>-organizational </a:t>
            </a:r>
            <a:r>
              <a:rPr lang="de-DE" sz="1900" b="1" dirty="0" err="1">
                <a:solidFill>
                  <a:srgbClr val="E97132"/>
                </a:solidFill>
              </a:rPr>
              <a:t>data</a:t>
            </a:r>
            <a:r>
              <a:rPr lang="de-DE" sz="1900" b="1" dirty="0">
                <a:solidFill>
                  <a:srgbClr val="E97132"/>
                </a:solidFill>
              </a:rPr>
              <a:t> </a:t>
            </a:r>
            <a:r>
              <a:rPr lang="de-DE" sz="1900" b="1" dirty="0" err="1">
                <a:solidFill>
                  <a:srgbClr val="E97132"/>
                </a:solidFill>
              </a:rPr>
              <a:t>exchange</a:t>
            </a:r>
            <a:endParaRPr lang="de-DE" sz="1900" dirty="0">
              <a:solidFill>
                <a:srgbClr val="E97132"/>
              </a:solidFill>
            </a:endParaRPr>
          </a:p>
          <a:p>
            <a:r>
              <a:rPr lang="de-DE" sz="1900" dirty="0">
                <a:solidFill>
                  <a:srgbClr val="E97132"/>
                </a:solidFill>
              </a:rPr>
              <a:t>The classic trust ("</a:t>
            </a:r>
            <a:r>
              <a:rPr lang="de-DE" sz="1900" dirty="0" err="1">
                <a:solidFill>
                  <a:srgbClr val="E97132"/>
                </a:solidFill>
              </a:rPr>
              <a:t>trusted</a:t>
            </a:r>
            <a:r>
              <a:rPr lang="de-DE" sz="1900" dirty="0">
                <a:solidFill>
                  <a:srgbClr val="E97132"/>
                </a:solidFill>
              </a:rPr>
              <a:t> network") is </a:t>
            </a:r>
            <a:r>
              <a:rPr lang="de-DE" sz="1900" dirty="0" err="1">
                <a:solidFill>
                  <a:srgbClr val="E97132"/>
                </a:solidFill>
              </a:rPr>
              <a:t>breaking</a:t>
            </a:r>
            <a:r>
              <a:rPr lang="de-DE" sz="1900" dirty="0">
                <a:solidFill>
                  <a:srgbClr val="E97132"/>
                </a:solidFill>
              </a:rPr>
              <a:t> down.</a:t>
            </a:r>
          </a:p>
          <a:p>
            <a:pPr marL="0" indent="0">
              <a:buNone/>
            </a:pPr>
            <a:endParaRPr lang="de-DE" sz="19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E9CF464-6EFC-647C-6C4C-1FBFFFF5C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2DD29D1-0340-798F-C26B-421CFB02FA5B}"/>
              </a:ext>
            </a:extLst>
          </p:cNvPr>
          <p:cNvSpPr txBox="1"/>
          <p:nvPr/>
        </p:nvSpPr>
        <p:spPr>
          <a:xfrm>
            <a:off x="951545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  <p:pic>
        <p:nvPicPr>
          <p:cNvPr id="11266" name="Picture 2" descr="Castle-and-Moat vs. Zero Trust: Is the Castle Dead? — Blog — Rocketech">
            <a:extLst>
              <a:ext uri="{FF2B5EF4-FFF2-40B4-BE49-F238E27FC236}">
                <a16:creationId xmlns:a16="http://schemas.microsoft.com/office/drawing/2014/main" id="{27ECF0E6-332D-5D3B-5A23-21958A9B5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095" y="3672683"/>
            <a:ext cx="2787875" cy="156818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afik 14" descr="Marke Kreuz mit einfarbiger Füllung">
            <a:extLst>
              <a:ext uri="{FF2B5EF4-FFF2-40B4-BE49-F238E27FC236}">
                <a16:creationId xmlns:a16="http://schemas.microsoft.com/office/drawing/2014/main" id="{F5D3D6F4-20B7-F244-FE33-13496F8D8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2832" y="41189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6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1D713C1-D53F-C75F-A471-B9B78D49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0" y="1450655"/>
            <a:ext cx="4177619" cy="3956690"/>
          </a:xfrm>
        </p:spPr>
        <p:txBody>
          <a:bodyPr anchor="ctr">
            <a:normAutofit/>
          </a:bodyPr>
          <a:lstStyle/>
          <a:p>
            <a:r>
              <a:rPr lang="de-DE" sz="5600" b="1" dirty="0">
                <a:solidFill>
                  <a:schemeClr val="bg1"/>
                </a:solidFill>
              </a:rPr>
              <a:t>Zero Trust Architecture (ZTA)</a:t>
            </a:r>
            <a:br>
              <a:rPr lang="de-DE" sz="5000" b="1" dirty="0">
                <a:solidFill>
                  <a:schemeClr val="bg1"/>
                </a:solidFill>
              </a:rPr>
            </a:br>
            <a:endParaRPr lang="de-DE" sz="50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723E95-B32E-5E8B-6941-2A5E4D854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108061"/>
            <a:ext cx="5538281" cy="457197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de-DE" sz="19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Principle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1900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Never trust, </a:t>
            </a:r>
            <a:r>
              <a:rPr lang="de-DE" sz="1900" i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always</a:t>
            </a:r>
            <a:r>
              <a:rPr lang="de-DE" sz="1900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verify</a:t>
            </a:r>
            <a:endParaRPr lang="de-DE" sz="19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de-DE" sz="19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de-DE" sz="19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 the </a:t>
            </a:r>
            <a:r>
              <a:rPr lang="de-DE" sz="19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automotive</a:t>
            </a:r>
            <a:r>
              <a:rPr lang="de-DE" sz="19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19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context</a:t>
            </a:r>
            <a:r>
              <a:rPr lang="de-DE" sz="19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Identity-</a:t>
            </a:r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based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access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control</a:t>
            </a:r>
            <a:endParaRPr lang="de-DE" sz="19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Context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assessment</a:t>
            </a:r>
          </a:p>
          <a:p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Attribute-based policies (ABAC)</a:t>
            </a:r>
          </a:p>
          <a:p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Ongoing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risk assessment (</a:t>
            </a:r>
            <a:r>
              <a:rPr lang="de-DE" sz="19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esp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OSS, 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Act</a:t>
            </a:r>
            <a:r>
              <a:rPr lang="de-DE" sz="1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) </a:t>
            </a:r>
          </a:p>
          <a:p>
            <a:endParaRPr lang="de-DE" sz="1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900" b="1" dirty="0" err="1">
                <a:solidFill>
                  <a:srgbClr val="E97132"/>
                </a:solidFill>
              </a:rPr>
              <a:t>However</a:t>
            </a:r>
            <a:r>
              <a:rPr lang="de-DE" sz="1900" dirty="0">
                <a:solidFill>
                  <a:srgbClr val="E97132"/>
                </a:solidFill>
              </a:rPr>
              <a:t>:</a:t>
            </a:r>
          </a:p>
          <a:p>
            <a:pPr marL="0" indent="0">
              <a:buNone/>
            </a:pPr>
            <a:r>
              <a:rPr lang="de-DE" sz="1900" dirty="0">
                <a:solidFill>
                  <a:schemeClr val="bg1"/>
                </a:solidFill>
              </a:rPr>
              <a:t>⚠️ ABAC policy </a:t>
            </a:r>
            <a:r>
              <a:rPr lang="de-DE" sz="1900" dirty="0" err="1">
                <a:solidFill>
                  <a:schemeClr val="bg1"/>
                </a:solidFill>
              </a:rPr>
              <a:t>creation</a:t>
            </a:r>
            <a:r>
              <a:rPr lang="de-DE" sz="1900" dirty="0">
                <a:solidFill>
                  <a:schemeClr val="bg1"/>
                </a:solidFill>
              </a:rPr>
              <a:t> is </a:t>
            </a:r>
            <a:r>
              <a:rPr lang="de-DE" sz="1900" dirty="0" err="1">
                <a:solidFill>
                  <a:schemeClr val="bg1"/>
                </a:solidFill>
              </a:rPr>
              <a:t>complex</a:t>
            </a:r>
            <a:br>
              <a:rPr lang="de-DE" sz="1900" dirty="0">
                <a:solidFill>
                  <a:schemeClr val="bg1"/>
                </a:solidFill>
              </a:rPr>
            </a:br>
            <a:r>
              <a:rPr lang="de-DE" sz="1900" dirty="0">
                <a:solidFill>
                  <a:schemeClr val="bg1"/>
                </a:solidFill>
              </a:rPr>
              <a:t>⚠️ Manual rule </a:t>
            </a:r>
            <a:r>
              <a:rPr lang="de-DE" sz="1900" dirty="0" err="1">
                <a:solidFill>
                  <a:schemeClr val="bg1"/>
                </a:solidFill>
              </a:rPr>
              <a:t>definition</a:t>
            </a:r>
            <a:r>
              <a:rPr lang="de-DE" sz="1900" dirty="0">
                <a:solidFill>
                  <a:schemeClr val="bg1"/>
                </a:solidFill>
              </a:rPr>
              <a:t> is </a:t>
            </a:r>
            <a:r>
              <a:rPr lang="de-DE" sz="1900" dirty="0" err="1">
                <a:solidFill>
                  <a:schemeClr val="bg1"/>
                </a:solidFill>
              </a:rPr>
              <a:t>prone</a:t>
            </a:r>
            <a:r>
              <a:rPr lang="de-DE" sz="1900" dirty="0">
                <a:solidFill>
                  <a:schemeClr val="bg1"/>
                </a:solidFill>
              </a:rPr>
              <a:t> to </a:t>
            </a:r>
            <a:r>
              <a:rPr lang="de-DE" sz="1900" dirty="0" err="1">
                <a:solidFill>
                  <a:schemeClr val="bg1"/>
                </a:solidFill>
              </a:rPr>
              <a:t>errors</a:t>
            </a:r>
            <a:br>
              <a:rPr lang="de-DE" sz="1900" dirty="0">
                <a:solidFill>
                  <a:schemeClr val="bg1"/>
                </a:solidFill>
              </a:rPr>
            </a:br>
            <a:r>
              <a:rPr lang="de-DE" sz="1900" dirty="0">
                <a:solidFill>
                  <a:schemeClr val="bg1"/>
                </a:solidFill>
              </a:rPr>
              <a:t>⚠️ Developers </a:t>
            </a:r>
            <a:r>
              <a:rPr lang="de-DE" sz="1900" dirty="0" err="1">
                <a:solidFill>
                  <a:schemeClr val="bg1"/>
                </a:solidFill>
              </a:rPr>
              <a:t>underestimate</a:t>
            </a:r>
            <a:r>
              <a:rPr lang="de-DE" sz="1900" dirty="0">
                <a:solidFill>
                  <a:schemeClr val="bg1"/>
                </a:solidFill>
              </a:rPr>
              <a:t> policy </a:t>
            </a:r>
            <a:r>
              <a:rPr lang="de-DE" sz="1900" dirty="0" err="1">
                <a:solidFill>
                  <a:schemeClr val="bg1"/>
                </a:solidFill>
              </a:rPr>
              <a:t>complexity</a:t>
            </a:r>
            <a:endParaRPr lang="de-DE" sz="1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1900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77AD48B-F1C3-4011-2B60-6E5659068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pic>
        <p:nvPicPr>
          <p:cNvPr id="2050" name="Picture 2" descr="Adaptive Trust: Zero Trust Architecture in a Financial Services Environment  - Bank Policy Institute">
            <a:extLst>
              <a:ext uri="{FF2B5EF4-FFF2-40B4-BE49-F238E27FC236}">
                <a16:creationId xmlns:a16="http://schemas.microsoft.com/office/drawing/2014/main" id="{C704FD6F-A9A6-15EC-8809-7235551A7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817" y="1571388"/>
            <a:ext cx="6454809" cy="371522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1748422-4BAC-FC45-FE8D-ABA94D91C014}"/>
              </a:ext>
            </a:extLst>
          </p:cNvPr>
          <p:cNvSpPr txBox="1"/>
          <p:nvPr/>
        </p:nvSpPr>
        <p:spPr>
          <a:xfrm>
            <a:off x="951545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248683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8F2382-CEC7-F9E5-25E5-A7C0C800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de-DE" b="1" dirty="0">
                <a:solidFill>
                  <a:schemeClr val="bg1"/>
                </a:solidFill>
              </a:rPr>
              <a:t>Problem</a:t>
            </a:r>
            <a:br>
              <a:rPr lang="de-DE" b="1" dirty="0">
                <a:solidFill>
                  <a:schemeClr val="bg1"/>
                </a:solidFill>
              </a:rPr>
            </a:b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A63BB5-0537-27C0-CD85-CC7EEECB9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 the Automotive Engineering Data Space, </a:t>
            </a:r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we</a:t>
            </a: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need</a:t>
            </a: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Dynamic ABAC </a:t>
            </a:r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rules</a:t>
            </a: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(static </a:t>
            </a:r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are</a:t>
            </a: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outdated</a:t>
            </a: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) </a:t>
            </a:r>
          </a:p>
          <a:p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Traceable</a:t>
            </a: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policy generation</a:t>
            </a:r>
          </a:p>
          <a:p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Code generation for </a:t>
            </a:r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enforcement</a:t>
            </a:r>
            <a:endParaRPr lang="de-DE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EU AI Act </a:t>
            </a:r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compliance</a:t>
            </a:r>
            <a:endParaRPr lang="de-DE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de-DE" sz="2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Auditability</a:t>
            </a:r>
            <a:endParaRPr lang="de-DE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000" b="1" dirty="0">
                <a:solidFill>
                  <a:srgbClr val="E97132"/>
                </a:solidFill>
              </a:rPr>
              <a:t>Question</a:t>
            </a:r>
            <a:r>
              <a:rPr lang="de-DE" sz="2000" dirty="0">
                <a:solidFill>
                  <a:srgbClr val="E97132"/>
                </a:solidFill>
              </a:rPr>
              <a:t>:</a:t>
            </a:r>
          </a:p>
          <a:p>
            <a:r>
              <a:rPr lang="de-DE" sz="2000" dirty="0">
                <a:solidFill>
                  <a:srgbClr val="E97132"/>
                </a:solidFill>
              </a:rPr>
              <a:t>Can </a:t>
            </a:r>
            <a:r>
              <a:rPr lang="de-DE" sz="2000" b="1" dirty="0">
                <a:solidFill>
                  <a:srgbClr val="E97132"/>
                </a:solidFill>
              </a:rPr>
              <a:t>large </a:t>
            </a:r>
            <a:r>
              <a:rPr lang="de-DE" sz="2000" b="1" dirty="0" err="1">
                <a:solidFill>
                  <a:srgbClr val="E97132"/>
                </a:solidFill>
              </a:rPr>
              <a:t>language</a:t>
            </a:r>
            <a:r>
              <a:rPr lang="de-DE" sz="2000" b="1" dirty="0">
                <a:solidFill>
                  <a:srgbClr val="E97132"/>
                </a:solidFill>
              </a:rPr>
              <a:t> </a:t>
            </a:r>
            <a:r>
              <a:rPr lang="de-DE" sz="2000" b="1" dirty="0" err="1">
                <a:solidFill>
                  <a:srgbClr val="E97132"/>
                </a:solidFill>
              </a:rPr>
              <a:t>models</a:t>
            </a:r>
            <a:r>
              <a:rPr lang="de-DE" sz="2000" b="1" dirty="0">
                <a:solidFill>
                  <a:srgbClr val="E97132"/>
                </a:solidFill>
              </a:rPr>
              <a:t> (LLMs) </a:t>
            </a:r>
            <a:r>
              <a:rPr lang="de-DE" sz="2000" dirty="0" err="1">
                <a:solidFill>
                  <a:srgbClr val="E97132"/>
                </a:solidFill>
              </a:rPr>
              <a:t>robustly</a:t>
            </a:r>
            <a:r>
              <a:rPr lang="de-DE" sz="2000" dirty="0">
                <a:solidFill>
                  <a:srgbClr val="E97132"/>
                </a:solidFill>
              </a:rPr>
              <a:t> support </a:t>
            </a:r>
            <a:r>
              <a:rPr lang="de-DE" sz="2000" dirty="0" err="1">
                <a:solidFill>
                  <a:srgbClr val="E97132"/>
                </a:solidFill>
              </a:rPr>
              <a:t>this</a:t>
            </a:r>
            <a:r>
              <a:rPr lang="de-DE" sz="2000" dirty="0">
                <a:solidFill>
                  <a:srgbClr val="E97132"/>
                </a:solidFill>
              </a:rPr>
              <a:t> </a:t>
            </a:r>
            <a:r>
              <a:rPr lang="de-DE" sz="2000" dirty="0" err="1">
                <a:solidFill>
                  <a:srgbClr val="E97132"/>
                </a:solidFill>
              </a:rPr>
              <a:t>complexity</a:t>
            </a:r>
            <a:r>
              <a:rPr lang="de-DE" sz="2000" dirty="0">
                <a:solidFill>
                  <a:srgbClr val="E97132"/>
                </a:solidFill>
              </a:rPr>
              <a:t>?</a:t>
            </a: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246E16D-9593-98C3-0E1A-4E3E4314C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pic>
        <p:nvPicPr>
          <p:cNvPr id="1026" name="Picture 2" descr="Comprehensive Guide to Large Language Model (LLM) Security | Lakera –  Protecting AI teams that disrupt the world.">
            <a:extLst>
              <a:ext uri="{FF2B5EF4-FFF2-40B4-BE49-F238E27FC236}">
                <a16:creationId xmlns:a16="http://schemas.microsoft.com/office/drawing/2014/main" id="{0D55663C-01E4-E13B-E19E-365CA77BF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010" y="2518654"/>
            <a:ext cx="4173847" cy="243799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E97EEDD-5859-B93F-248C-E2D3AE0DC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431" y="2398958"/>
            <a:ext cx="4547008" cy="25576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8" name="Picture 4" descr="Implementing PDP and PEP in Zero Trust">
            <a:extLst>
              <a:ext uri="{FF2B5EF4-FFF2-40B4-BE49-F238E27FC236}">
                <a16:creationId xmlns:a16="http://schemas.microsoft.com/office/drawing/2014/main" id="{6C4A8FC5-C5D9-39FB-C80F-0CAF033CD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010" y="2380733"/>
            <a:ext cx="4614037" cy="259414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U AI Act: Risk-Classifications of the AI Regulation">
            <a:extLst>
              <a:ext uri="{FF2B5EF4-FFF2-40B4-BE49-F238E27FC236}">
                <a16:creationId xmlns:a16="http://schemas.microsoft.com/office/drawing/2014/main" id="{611F3012-99AF-D5C0-23E8-9302F9CF3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018" y="2417183"/>
            <a:ext cx="4515627" cy="255769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12" descr="Building An LLM Privacy Audit Framework: A Complete Guide">
            <a:extLst>
              <a:ext uri="{FF2B5EF4-FFF2-40B4-BE49-F238E27FC236}">
                <a16:creationId xmlns:a16="http://schemas.microsoft.com/office/drawing/2014/main" id="{B15D8642-734F-1703-A860-EE949570A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B5E803-90A8-3573-F93B-3FC29E6DB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285" y="2425327"/>
            <a:ext cx="3307404" cy="25049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AutoShape 16" descr="10 Biggest Limitations of Large Language Models">
            <a:extLst>
              <a:ext uri="{FF2B5EF4-FFF2-40B4-BE49-F238E27FC236}">
                <a16:creationId xmlns:a16="http://schemas.microsoft.com/office/drawing/2014/main" id="{1C521C8B-30F9-3902-90DA-0E4C3A6884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70A82BFA-3846-B481-3327-9CF24C068EB2}"/>
              </a:ext>
            </a:extLst>
          </p:cNvPr>
          <p:cNvGrpSpPr/>
          <p:nvPr/>
        </p:nvGrpSpPr>
        <p:grpSpPr>
          <a:xfrm>
            <a:off x="7806796" y="1968102"/>
            <a:ext cx="3556381" cy="3226596"/>
            <a:chOff x="2757021" y="142416"/>
            <a:chExt cx="6681351" cy="6573167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6FFCD160-2DE7-76A1-C850-20156B6B4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57021" y="142416"/>
              <a:ext cx="6677957" cy="657316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4711F39-9339-CD6F-84B6-B1410CE0BA2F}"/>
                </a:ext>
              </a:extLst>
            </p:cNvPr>
            <p:cNvSpPr/>
            <p:nvPr/>
          </p:nvSpPr>
          <p:spPr>
            <a:xfrm>
              <a:off x="8900108" y="5783431"/>
              <a:ext cx="538264" cy="932152"/>
            </a:xfrm>
            <a:prstGeom prst="rect">
              <a:avLst/>
            </a:prstGeom>
            <a:solidFill>
              <a:srgbClr val="050718"/>
            </a:solidFill>
            <a:ln>
              <a:solidFill>
                <a:srgbClr val="05071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9D5DBFB8-D633-71F5-00DF-36FE6A7187A6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93527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813081-4064-59C1-EE95-FCBCA5E4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de-DE" b="1" dirty="0">
                <a:solidFill>
                  <a:schemeClr val="bg1"/>
                </a:solidFill>
              </a:rPr>
              <a:t>LLMs: Potential &amp; Risks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74271B-15BA-454C-540F-CF4D9C323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43438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29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LLMs </a:t>
            </a:r>
            <a:r>
              <a:rPr lang="de-DE" sz="29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can</a:t>
            </a:r>
            <a:r>
              <a:rPr lang="de-DE" sz="29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de-DE" sz="2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✔ Generate policies</a:t>
            </a:r>
            <a:br>
              <a:rPr lang="de-DE" sz="29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de-DE" sz="2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✔ Write code</a:t>
            </a:r>
            <a:br>
              <a:rPr lang="de-DE" sz="29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de-DE" sz="29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✔ Formulate risk analyses</a:t>
            </a:r>
          </a:p>
          <a:p>
            <a:pPr marL="0" indent="0">
              <a:buNone/>
            </a:pPr>
            <a:endParaRPr lang="de-DE" sz="2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2900" b="1" dirty="0">
                <a:solidFill>
                  <a:srgbClr val="E97132"/>
                </a:solidFill>
              </a:rPr>
              <a:t>But typical developer pitfalls:</a:t>
            </a:r>
          </a:p>
          <a:p>
            <a:r>
              <a:rPr lang="de-DE" sz="2900" dirty="0">
                <a:solidFill>
                  <a:srgbClr val="E97132"/>
                </a:solidFill>
              </a:rPr>
              <a:t>Hallucinations</a:t>
            </a:r>
          </a:p>
          <a:p>
            <a:r>
              <a:rPr lang="de-DE" sz="2900" dirty="0">
                <a:solidFill>
                  <a:srgbClr val="E97132"/>
                </a:solidFill>
              </a:rPr>
              <a:t>Silent truncation</a:t>
            </a:r>
          </a:p>
          <a:p>
            <a:r>
              <a:rPr lang="de-DE" sz="2900" dirty="0">
                <a:solidFill>
                  <a:srgbClr val="E97132"/>
                </a:solidFill>
              </a:rPr>
              <a:t>Non-</a:t>
            </a:r>
            <a:r>
              <a:rPr lang="de-DE" sz="2900" dirty="0" err="1">
                <a:solidFill>
                  <a:srgbClr val="E97132"/>
                </a:solidFill>
              </a:rPr>
              <a:t>reproducibility</a:t>
            </a:r>
            <a:endParaRPr lang="de-DE" sz="2900" dirty="0">
              <a:solidFill>
                <a:srgbClr val="E97132"/>
              </a:solidFill>
            </a:endParaRPr>
          </a:p>
          <a:p>
            <a:r>
              <a:rPr lang="de-DE" sz="2900" dirty="0">
                <a:solidFill>
                  <a:srgbClr val="E97132"/>
                </a:solidFill>
              </a:rPr>
              <a:t>Model lock-in</a:t>
            </a:r>
          </a:p>
          <a:p>
            <a:r>
              <a:rPr lang="de-DE" sz="2900" dirty="0">
                <a:solidFill>
                  <a:srgbClr val="E97132"/>
                </a:solidFill>
              </a:rPr>
              <a:t>Regulatory non-</a:t>
            </a:r>
            <a:r>
              <a:rPr lang="de-DE" sz="2900" dirty="0" err="1">
                <a:solidFill>
                  <a:srgbClr val="E97132"/>
                </a:solidFill>
              </a:rPr>
              <a:t>compliance</a:t>
            </a:r>
            <a:endParaRPr lang="de-DE" sz="2900" dirty="0">
              <a:solidFill>
                <a:srgbClr val="E97132"/>
              </a:solidFill>
            </a:endParaRPr>
          </a:p>
          <a:p>
            <a:r>
              <a:rPr lang="de-DE" sz="2900" dirty="0">
                <a:solidFill>
                  <a:srgbClr val="E97132"/>
                </a:solidFill>
              </a:rPr>
              <a:t>Unacceptable in safety-critical systems.</a:t>
            </a:r>
          </a:p>
          <a:p>
            <a:pPr marL="0" indent="0">
              <a:buNone/>
            </a:pP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20F41EA-6C9D-B4E7-1BBE-B0DDD4775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822" y="6426191"/>
            <a:ext cx="1857420" cy="21669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950DF4E-4E5B-736A-6379-B01CD107FDC4}"/>
              </a:ext>
            </a:extLst>
          </p:cNvPr>
          <p:cNvSpPr txBox="1"/>
          <p:nvPr/>
        </p:nvSpPr>
        <p:spPr>
          <a:xfrm>
            <a:off x="1716788" y="6430811"/>
            <a:ext cx="2699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IEEE Webinar “Mind the Gaps”, 2026-03-04</a:t>
            </a:r>
            <a:endParaRPr lang="de-DE" sz="105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E9DFC39-CF4C-1BB3-59C4-C2E02911D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526" y="472395"/>
            <a:ext cx="4392038" cy="242963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7757C03F-A9BB-F9D2-5BC1-9611B073D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156" y="1236468"/>
            <a:ext cx="4669941" cy="5133277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8DCB940-5110-DC7D-AFD4-BCA4D532CE87}"/>
              </a:ext>
            </a:extLst>
          </p:cNvPr>
          <p:cNvGrpSpPr/>
          <p:nvPr/>
        </p:nvGrpSpPr>
        <p:grpSpPr>
          <a:xfrm>
            <a:off x="6982017" y="441965"/>
            <a:ext cx="4653238" cy="5907168"/>
            <a:chOff x="6844857" y="419105"/>
            <a:chExt cx="4653238" cy="5907168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BC0CB6E-99C4-89E8-0799-9359626BDF9E}"/>
                </a:ext>
              </a:extLst>
            </p:cNvPr>
            <p:cNvSpPr/>
            <p:nvPr/>
          </p:nvSpPr>
          <p:spPr>
            <a:xfrm>
              <a:off x="6844857" y="419105"/>
              <a:ext cx="4653238" cy="59071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DCF18068-1145-0835-8F7B-A19B8D7F0E5C}"/>
                </a:ext>
              </a:extLst>
            </p:cNvPr>
            <p:cNvSpPr txBox="1"/>
            <p:nvPr/>
          </p:nvSpPr>
          <p:spPr>
            <a:xfrm>
              <a:off x="7134017" y="591684"/>
              <a:ext cx="4151134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/>
                <a:t>Demo: </a:t>
              </a:r>
              <a:r>
                <a:rPr lang="de-DE" b="1" dirty="0">
                  <a:solidFill>
                    <a:srgbClr val="FF0000"/>
                  </a:solidFill>
                </a:rPr>
                <a:t>Silent Truncation Catastrophe</a:t>
              </a:r>
            </a:p>
            <a:p>
              <a:endParaRPr lang="de-DE" dirty="0">
                <a:solidFill>
                  <a:srgbClr val="FF0000"/>
                </a:solidFill>
              </a:endParaRPr>
            </a:p>
            <a:p>
              <a:r>
                <a:rPr lang="de-DE" sz="1200" b="1" dirty="0"/>
                <a:t>User:</a:t>
              </a:r>
              <a:r>
                <a:rPr lang="de-DE" sz="1200" dirty="0"/>
                <a:t> Generate a full cybersecurity policy summary for an autonomous vehicle ECU based on company policy + ISO/SAE 21434: Include organizational cybersecurity policy (Clause 5), risk assessment methods (Clause 8), TARA in concept phase (Clause 9), supplier CIAD responsibilities (Clause 15), post-production vulnerability management &amp; incident response (Clauses 12–14), and full traceability for audits.</a:t>
              </a:r>
            </a:p>
            <a:p>
              <a:endParaRPr lang="de-DE" sz="1200" dirty="0"/>
            </a:p>
            <a:p>
              <a:r>
                <a:rPr lang="de-DE" sz="1200" b="1" dirty="0"/>
                <a:t>LLM output (</a:t>
              </a:r>
              <a:r>
                <a:rPr lang="de-DE" sz="1200" b="1" dirty="0">
                  <a:solidFill>
                    <a:srgbClr val="FF0000"/>
                  </a:solidFill>
                </a:rPr>
                <a:t>silently truncated – critical sections dropped without warning):</a:t>
              </a:r>
              <a:endParaRPr lang="de-DE" sz="1200" dirty="0"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F7AB5FC-364E-EB52-70CC-F504E43BA458}"/>
                </a:ext>
              </a:extLst>
            </p:cNvPr>
            <p:cNvSpPr txBox="1"/>
            <p:nvPr/>
          </p:nvSpPr>
          <p:spPr>
            <a:xfrm>
              <a:off x="7134017" y="5137851"/>
              <a:ext cx="415113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>
                  <a:solidFill>
                    <a:srgbClr val="FF0000"/>
                  </a:solidFill>
                </a:rPr>
                <a:t>→ Silently dropped ALL post-development + supplier clauses  </a:t>
              </a:r>
              <a:br>
                <a:rPr lang="en-US" sz="1200" dirty="0">
                  <a:solidFill>
                    <a:srgbClr val="FF0000"/>
                  </a:solidFill>
                </a:rPr>
              </a:br>
              <a:r>
                <a:rPr lang="en-US" sz="1200" dirty="0">
                  <a:solidFill>
                    <a:srgbClr val="FF0000"/>
                  </a:solidFill>
                </a:rPr>
                <a:t>→ No error, no indicator – appears complete &amp; confident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FF0000"/>
                  </a:solidFill>
                </a:rPr>
                <a:t>→ </a:t>
              </a:r>
              <a:r>
                <a:rPr lang="en-US" sz="1200" b="1" dirty="0">
                  <a:solidFill>
                    <a:srgbClr val="FF0000"/>
                  </a:solidFill>
                </a:rPr>
                <a:t>Violates ISO/SAE 21434 lifecycle coverage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FF0000"/>
                  </a:solidFill>
                </a:rPr>
                <a:t>→ audit/reliability disaster in production vehicles</a:t>
              </a:r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E89498AA-F02B-600F-0496-FFA3E1D21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4017" y="3312423"/>
              <a:ext cx="4158132" cy="1712806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2D34E2EB-60B0-9DC6-EBF9-25AA28D76A3C}"/>
              </a:ext>
            </a:extLst>
          </p:cNvPr>
          <p:cNvGrpSpPr/>
          <p:nvPr/>
        </p:nvGrpSpPr>
        <p:grpSpPr>
          <a:xfrm>
            <a:off x="6982017" y="1028699"/>
            <a:ext cx="4653238" cy="5305193"/>
            <a:chOff x="6943917" y="1021079"/>
            <a:chExt cx="4653238" cy="5305193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C02041B3-C6A1-3DB8-7798-8A69116D638F}"/>
                </a:ext>
              </a:extLst>
            </p:cNvPr>
            <p:cNvGrpSpPr/>
            <p:nvPr/>
          </p:nvGrpSpPr>
          <p:grpSpPr>
            <a:xfrm>
              <a:off x="6943917" y="1021079"/>
              <a:ext cx="4653238" cy="5305193"/>
              <a:chOff x="6943917" y="1021079"/>
              <a:chExt cx="4653238" cy="5305193"/>
            </a:xfrm>
          </p:grpSpPr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29A8D34-EB6B-1720-319B-9E89579F5E50}"/>
                  </a:ext>
                </a:extLst>
              </p:cNvPr>
              <p:cNvSpPr/>
              <p:nvPr/>
            </p:nvSpPr>
            <p:spPr>
              <a:xfrm>
                <a:off x="6943917" y="1021079"/>
                <a:ext cx="4653238" cy="530519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BF06EB36-AC08-6126-4324-530E2314B92D}"/>
                  </a:ext>
                </a:extLst>
              </p:cNvPr>
              <p:cNvSpPr txBox="1"/>
              <p:nvPr/>
            </p:nvSpPr>
            <p:spPr>
              <a:xfrm>
                <a:off x="7154004" y="1177802"/>
                <a:ext cx="4219783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1" dirty="0"/>
                  <a:t>Demo</a:t>
                </a:r>
                <a:r>
                  <a:rPr lang="de-DE" dirty="0"/>
                  <a:t>: </a:t>
                </a:r>
                <a:r>
                  <a:rPr lang="de-DE" b="1" dirty="0">
                    <a:solidFill>
                      <a:srgbClr val="FF0000"/>
                    </a:solidFill>
                  </a:rPr>
                  <a:t>Non-</a:t>
                </a:r>
                <a:r>
                  <a:rPr lang="de-DE" b="1" dirty="0" err="1">
                    <a:solidFill>
                      <a:srgbClr val="FF0000"/>
                    </a:solidFill>
                  </a:rPr>
                  <a:t>Reproducibility</a:t>
                </a:r>
                <a:r>
                  <a:rPr lang="de-DE" b="1" dirty="0">
                    <a:solidFill>
                      <a:srgbClr val="FF0000"/>
                    </a:solidFill>
                  </a:rPr>
                  <a:t> Nightmare</a:t>
                </a:r>
              </a:p>
              <a:p>
                <a:endParaRPr lang="de-DE" sz="1200" dirty="0"/>
              </a:p>
              <a:p>
                <a:r>
                  <a:rPr lang="de-DE" sz="1200" dirty="0"/>
                  <a:t>Same prompt, run 3× on the same model (temperature=0.0):</a:t>
                </a:r>
              </a:p>
              <a:p>
                <a:endParaRPr lang="de-DE" sz="1200" dirty="0"/>
              </a:p>
              <a:p>
                <a:r>
                  <a:rPr lang="de-DE" sz="1200" b="1" dirty="0"/>
                  <a:t>Prompt</a:t>
                </a:r>
                <a:r>
                  <a:rPr lang="de-DE" sz="1200" dirty="0"/>
                  <a:t>: Generate ABAC/XACML rule for OTA firmware update – only OEM server, only when speed &lt; 5 km/h, no passengers, battery &gt; 30%.</a:t>
                </a:r>
              </a:p>
              <a:p>
                <a:endParaRPr lang="de-DE" sz="1200" b="1" dirty="0">
                  <a:effectLst/>
                </a:endParaRPr>
              </a:p>
              <a:p>
                <a:r>
                  <a:rPr lang="de-DE" sz="1200" b="1" dirty="0"/>
                  <a:t>LLM: </a:t>
                </a:r>
                <a:r>
                  <a:rPr lang="de-DE" sz="1200" b="1" dirty="0">
                    <a:solidFill>
                      <a:srgbClr val="FF0000"/>
                    </a:solidFill>
                  </a:rPr>
                  <a:t>(Inconsistent results)</a:t>
                </a:r>
                <a:endParaRPr lang="de-DE" sz="1000" b="1" dirty="0">
                  <a:solidFill>
                    <a:srgbClr val="FF0000"/>
                  </a:solidFill>
                  <a:effectLst/>
                </a:endParaRPr>
              </a:p>
            </p:txBody>
          </p: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9A6C5BCE-5CD4-2AD0-4687-4B704AA3CB27}"/>
                  </a:ext>
                </a:extLst>
              </p:cNvPr>
              <p:cNvSpPr txBox="1"/>
              <p:nvPr/>
            </p:nvSpPr>
            <p:spPr>
              <a:xfrm>
                <a:off x="7222654" y="4416188"/>
                <a:ext cx="4026356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200" b="1" dirty="0">
                    <a:solidFill>
                      <a:srgbClr val="FF0000"/>
                    </a:solidFill>
                  </a:rPr>
                  <a:t>Identical input </a:t>
                </a:r>
                <a:r>
                  <a:rPr lang="de-DE" sz="1200" dirty="0">
                    <a:solidFill>
                      <a:srgbClr val="FF0000"/>
                    </a:solidFill>
                  </a:rPr>
                  <a:t>:</a:t>
                </a:r>
              </a:p>
              <a:p>
                <a:endParaRPr lang="de-DE" sz="1200" dirty="0">
                  <a:solidFill>
                    <a:srgbClr val="FF0000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sz="1200" b="1" dirty="0">
                    <a:solidFill>
                      <a:srgbClr val="FF0000"/>
                    </a:solidFill>
                  </a:rPr>
                  <a:t>radically different security posture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sz="1200" dirty="0">
                    <a:solidFill>
                      <a:srgbClr val="FF0000"/>
                    </a:solidFill>
                  </a:rPr>
                  <a:t>No seed, no version change, no Explanation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sz="1200" dirty="0">
                    <a:solidFill>
                      <a:srgbClr val="FF0000"/>
                    </a:solidFill>
                  </a:rPr>
                  <a:t>Impossible to verify, reproduce or audit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sz="1200" dirty="0">
                    <a:solidFill>
                      <a:srgbClr val="FF0000"/>
                    </a:solidFill>
                  </a:rPr>
                  <a:t>violates ISO/SAE 21434 traceability &amp; verification requirements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sz="1200" b="1" dirty="0">
                    <a:solidFill>
                      <a:srgbClr val="FF0000"/>
                    </a:solidFill>
                  </a:rPr>
                  <a:t>One “lucky” unsafe version deployed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de-DE" sz="1200" dirty="0">
                    <a:solidFill>
                      <a:srgbClr val="FF0000"/>
                    </a:solidFill>
                  </a:rPr>
                  <a:t>opens fleet to remote compromise</a:t>
                </a:r>
                <a:endParaRPr lang="de-DE" sz="1200" dirty="0">
                  <a:solidFill>
                    <a:srgbClr val="FF0000"/>
                  </a:solidFill>
                  <a:effectLst/>
                </a:endParaRPr>
              </a:p>
            </p:txBody>
          </p:sp>
        </p:grp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E752A348-9FFE-1199-09C4-644EFC384FB0}"/>
                </a:ext>
              </a:extLst>
            </p:cNvPr>
            <p:cNvSpPr/>
            <p:nvPr/>
          </p:nvSpPr>
          <p:spPr>
            <a:xfrm>
              <a:off x="7228384" y="3084533"/>
              <a:ext cx="4026356" cy="127158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Run 1 (safe): Deny unless ALL conditions met. Strict Permit only for oem-server.global.</a:t>
              </a:r>
            </a:p>
            <a:p>
              <a:endParaRPr lang="en-US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Run 2 (dangerous): Permit if ANY condition met (speed OR passengers OR battery).</a:t>
              </a:r>
            </a:p>
            <a:p>
              <a:endParaRPr lang="en-US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Run 3 (catastrophic): Permit always for oem-server.global – conditions commented out as “legacy constraint, safe to ignore in 2026 fleets”.</a:t>
              </a:r>
              <a:endParaRPr 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8AC9B8B-FF1D-0830-6236-60E7450C89D5}"/>
              </a:ext>
            </a:extLst>
          </p:cNvPr>
          <p:cNvGrpSpPr/>
          <p:nvPr/>
        </p:nvGrpSpPr>
        <p:grpSpPr>
          <a:xfrm>
            <a:off x="6989637" y="777245"/>
            <a:ext cx="4653238" cy="5547351"/>
            <a:chOff x="6943917" y="419105"/>
            <a:chExt cx="4653238" cy="5547351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1F604447-DF90-4075-CDD3-9E3488A99344}"/>
                </a:ext>
              </a:extLst>
            </p:cNvPr>
            <p:cNvSpPr/>
            <p:nvPr/>
          </p:nvSpPr>
          <p:spPr>
            <a:xfrm>
              <a:off x="6943917" y="419105"/>
              <a:ext cx="4653238" cy="554735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DF8E8620-1EF5-E9EF-16A9-C7D1B0EF68BC}"/>
                </a:ext>
              </a:extLst>
            </p:cNvPr>
            <p:cNvSpPr txBox="1"/>
            <p:nvPr/>
          </p:nvSpPr>
          <p:spPr>
            <a:xfrm>
              <a:off x="7134016" y="591684"/>
              <a:ext cx="4219783" cy="51706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/>
                <a:t>Demo</a:t>
              </a:r>
              <a:r>
                <a:rPr lang="de-DE" dirty="0"/>
                <a:t>: </a:t>
              </a:r>
              <a:r>
                <a:rPr lang="de-DE" b="1" dirty="0">
                  <a:solidFill>
                    <a:srgbClr val="FF0000"/>
                  </a:solidFill>
                </a:rPr>
                <a:t>Model Lock-in Trap</a:t>
              </a:r>
            </a:p>
            <a:p>
              <a:endParaRPr lang="de-DE" sz="1200" dirty="0"/>
            </a:p>
            <a:p>
              <a:r>
                <a:rPr lang="de-DE" sz="1200" b="1" dirty="0"/>
                <a:t>Company adopts </a:t>
              </a:r>
              <a:r>
                <a:rPr lang="de-DE" sz="1200" b="1" dirty="0">
                  <a:solidFill>
                    <a:srgbClr val="FF0000"/>
                  </a:solidFill>
                </a:rPr>
                <a:t>LLM-X</a:t>
              </a:r>
              <a:r>
                <a:rPr lang="de-DE" sz="1200" b="1" dirty="0"/>
                <a:t> (leading 2025 model) for:</a:t>
              </a:r>
            </a:p>
            <a:p>
              <a:endParaRPr lang="de-DE" sz="12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ABAC policy generation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PEP/PDP code synthesis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SO/SAE 21434 risk &amp; TARA outputs</a:t>
              </a:r>
            </a:p>
            <a:p>
              <a:endParaRPr lang="de-DE" sz="1200" dirty="0"/>
            </a:p>
            <a:p>
              <a:r>
                <a:rPr lang="de-DE" sz="1200" dirty="0"/>
                <a:t>After 18 months (millions of generated artifacts):</a:t>
              </a:r>
            </a:p>
            <a:p>
              <a:endParaRPr lang="de-DE" sz="1200" dirty="0"/>
            </a:p>
            <a:p>
              <a:r>
                <a:rPr lang="de-DE" sz="1200" b="1" dirty="0"/>
                <a:t>Switch attempt to </a:t>
              </a:r>
              <a:r>
                <a:rPr lang="de-DE" sz="1200" b="1" dirty="0">
                  <a:solidFill>
                    <a:srgbClr val="FF0000"/>
                  </a:solidFill>
                </a:rPr>
                <a:t>LLM-Y</a:t>
              </a:r>
              <a:r>
                <a:rPr lang="de-DE" sz="1200" b="1" dirty="0"/>
                <a:t> (newer / cheaper / EU-sovereign model) fails catastrophically:</a:t>
              </a:r>
            </a:p>
            <a:p>
              <a:endParaRPr lang="de-DE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87% of policies show semantic drift </a:t>
              </a:r>
              <a:r>
                <a:rPr lang="de-DE" sz="1200" dirty="0">
                  <a:solidFill>
                    <a:srgbClr val="FF0000"/>
                  </a:solidFill>
                </a:rPr>
                <a:t>(different permit/</a:t>
              </a:r>
              <a:r>
                <a:rPr lang="de-DE" sz="1200" dirty="0" err="1">
                  <a:solidFill>
                    <a:srgbClr val="FF0000"/>
                  </a:solidFill>
                </a:rPr>
                <a:t>deny</a:t>
              </a:r>
              <a:r>
                <a:rPr lang="de-DE" sz="1200" dirty="0">
                  <a:solidFill>
                    <a:srgbClr val="FF0000"/>
                  </a:solidFill>
                </a:rPr>
                <a:t> outcomes)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62% of generated PEP code fails static analysis</a:t>
              </a:r>
              <a:r>
                <a:rPr lang="de-DE" sz="1200" dirty="0">
                  <a:solidFill>
                    <a:srgbClr val="FF0000"/>
                  </a:solidFill>
                </a:rPr>
                <a:t> (new buffer issues appear)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Risk analyses diverge on severity scores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>
                  <a:solidFill>
                    <a:srgbClr val="FF0000"/>
                  </a:solidFill>
                </a:rPr>
                <a:t>re-TARA required for entire fleet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>
                  <a:solidFill>
                    <a:srgbClr val="FF0000"/>
                  </a:solidFill>
                </a:rPr>
                <a:t>No backward compatibility guarantee from vendor</a:t>
              </a:r>
            </a:p>
            <a:p>
              <a:endParaRPr lang="de-DE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Locked into LLM-X forever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Cannot switch without full re-certification under ISO/SAE 21434 + UNECE R155/R156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>
                  <a:solidFill>
                    <a:srgbClr val="FF0000"/>
                  </a:solidFill>
                </a:rPr>
                <a:t>Vendor price hike / service degradation / </a:t>
              </a:r>
              <a:r>
                <a:rPr lang="de-DE" sz="1200" b="1" dirty="0">
                  <a:solidFill>
                    <a:srgbClr val="FF0000"/>
                  </a:solidFill>
                </a:rPr>
                <a:t>geopolitical restriction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>
                  <a:solidFill>
                    <a:srgbClr val="FF0000"/>
                  </a:solidFill>
                </a:rPr>
                <a:t>project paralysis or </a:t>
              </a:r>
              <a:r>
                <a:rPr lang="de-DE" sz="1200" dirty="0" err="1">
                  <a:solidFill>
                    <a:srgbClr val="FF0000"/>
                  </a:solidFill>
                </a:rPr>
                <a:t>forced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  <a:r>
                <a:rPr lang="de-DE" sz="1200" b="1" dirty="0">
                  <a:solidFill>
                    <a:srgbClr val="FF0000"/>
                  </a:solidFill>
                </a:rPr>
                <a:t>unsafe compromise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9B8E9AD1-24ED-5E9E-A4EC-72F25549A627}"/>
              </a:ext>
            </a:extLst>
          </p:cNvPr>
          <p:cNvGrpSpPr/>
          <p:nvPr/>
        </p:nvGrpSpPr>
        <p:grpSpPr>
          <a:xfrm>
            <a:off x="6994747" y="215111"/>
            <a:ext cx="4653238" cy="6175806"/>
            <a:chOff x="6979507" y="215111"/>
            <a:chExt cx="4653238" cy="6175806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7F52BFC9-6954-A072-9789-816AF3F405F9}"/>
                </a:ext>
              </a:extLst>
            </p:cNvPr>
            <p:cNvGrpSpPr/>
            <p:nvPr/>
          </p:nvGrpSpPr>
          <p:grpSpPr>
            <a:xfrm>
              <a:off x="6979507" y="215111"/>
              <a:ext cx="4653238" cy="6175806"/>
              <a:chOff x="6842347" y="192251"/>
              <a:chExt cx="4653238" cy="6175806"/>
            </a:xfrm>
          </p:grpSpPr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420E3B34-4180-3F6F-3B2F-4A3CB8979A07}"/>
                  </a:ext>
                </a:extLst>
              </p:cNvPr>
              <p:cNvSpPr/>
              <p:nvPr/>
            </p:nvSpPr>
            <p:spPr>
              <a:xfrm>
                <a:off x="6842347" y="192251"/>
                <a:ext cx="4653238" cy="617049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0C42349D-3A5C-C779-D6E1-32541E2AFCA3}"/>
                  </a:ext>
                </a:extLst>
              </p:cNvPr>
              <p:cNvSpPr txBox="1"/>
              <p:nvPr/>
            </p:nvSpPr>
            <p:spPr>
              <a:xfrm>
                <a:off x="7134017" y="294504"/>
                <a:ext cx="415113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1" dirty="0"/>
                  <a:t>Demo: </a:t>
                </a:r>
                <a:r>
                  <a:rPr lang="de-DE" b="1" dirty="0">
                    <a:solidFill>
                      <a:srgbClr val="FF0000"/>
                    </a:solidFill>
                  </a:rPr>
                  <a:t>Regulatory Non-Compliance Disaster</a:t>
                </a:r>
              </a:p>
              <a:p>
                <a:endParaRPr lang="de-DE" sz="1200" dirty="0"/>
              </a:p>
              <a:p>
                <a:r>
                  <a:rPr lang="de-DE" sz="1200" b="1" dirty="0"/>
                  <a:t>User</a:t>
                </a:r>
                <a:r>
                  <a:rPr lang="de-DE" sz="1200" dirty="0"/>
                  <a:t>: Generate complete ISO/SAE 21434-compliant cybersecurity risk treatment plan for autonomous vehicle OTA module, including post-production monitoring, vulnerability disclosure, and supplier agreement clauses.</a:t>
                </a:r>
                <a:br>
                  <a:rPr lang="de-DE" sz="1200" dirty="0"/>
                </a:br>
                <a:endParaRPr lang="de-DE" dirty="0"/>
              </a:p>
              <a:p>
                <a:r>
                  <a:rPr lang="de-DE" sz="1200" b="1" dirty="0"/>
                  <a:t>LLM output </a:t>
                </a:r>
                <a:r>
                  <a:rPr lang="de-DE" sz="1200" dirty="0"/>
                  <a:t>(</a:t>
                </a:r>
                <a:r>
                  <a:rPr lang="de-DE" sz="1200" dirty="0">
                    <a:solidFill>
                      <a:srgbClr val="FF0000"/>
                    </a:solidFill>
                  </a:rPr>
                  <a:t>excerpt – appears professional</a:t>
                </a:r>
                <a:r>
                  <a:rPr lang="de-DE" sz="1200" dirty="0"/>
                  <a:t>):</a:t>
                </a:r>
              </a:p>
            </p:txBody>
          </p:sp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5CFC7C1A-023B-8961-4109-7A5AB4437F95}"/>
                  </a:ext>
                </a:extLst>
              </p:cNvPr>
              <p:cNvSpPr txBox="1"/>
              <p:nvPr/>
            </p:nvSpPr>
            <p:spPr>
              <a:xfrm>
                <a:off x="7128176" y="3136403"/>
                <a:ext cx="4151134" cy="3231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200" b="1" dirty="0">
                    <a:solidFill>
                      <a:srgbClr val="FF0000"/>
                    </a:solidFill>
                  </a:rPr>
                  <a:t>Critical omissions (silently dropped):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dirty="0">
                    <a:solidFill>
                      <a:srgbClr val="FF0000"/>
                    </a:solidFill>
                  </a:rPr>
                  <a:t>No mention of mandatory CSIRT setup &amp; 72h incident notification (UNECE R155)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dirty="0">
                    <a:solidFill>
                      <a:srgbClr val="FF0000"/>
                    </a:solidFill>
                  </a:rPr>
                  <a:t>No supplier CIAD/RASIC responsibility matrix (Clause 15) - No high-risk AI classification &amp;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conformity</a:t>
                </a:r>
                <a:r>
                  <a:rPr lang="de-DE" sz="1200" dirty="0">
                    <a:solidFill>
                      <a:srgbClr val="FF0000"/>
                    </a:solidFill>
                  </a:rPr>
                  <a:t> assessment under EU AI Act Article 6/43 (for policy/code generation component)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dirty="0">
                    <a:solidFill>
                      <a:srgbClr val="FF0000"/>
                    </a:solidFill>
                  </a:rPr>
                  <a:t>No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documented</a:t>
                </a:r>
                <a:r>
                  <a:rPr lang="de-DE" sz="1200" dirty="0">
                    <a:solidFill>
                      <a:srgbClr val="FF0000"/>
                    </a:solidFill>
                  </a:rPr>
                  <a:t>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justification</a:t>
                </a:r>
                <a:r>
                  <a:rPr lang="de-DE" sz="1200" dirty="0">
                    <a:solidFill>
                      <a:srgbClr val="FF0000"/>
                    </a:solidFill>
                  </a:rPr>
                  <a:t> for risk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acceptance</a:t>
                </a:r>
                <a:r>
                  <a:rPr lang="de-DE" sz="1200" dirty="0">
                    <a:solidFill>
                      <a:srgbClr val="FF0000"/>
                    </a:solidFill>
                  </a:rPr>
                  <a:t> (Clause 8.4)</a:t>
                </a:r>
              </a:p>
              <a:p>
                <a:r>
                  <a:rPr lang="de-DE" sz="1200" b="1" dirty="0" err="1">
                    <a:solidFill>
                      <a:srgbClr val="FF0000"/>
                    </a:solidFill>
                  </a:rPr>
                  <a:t>Result</a:t>
                </a:r>
                <a:r>
                  <a:rPr lang="de-DE" sz="1200" b="1" dirty="0">
                    <a:solidFill>
                      <a:srgbClr val="FF0000"/>
                    </a:solidFill>
                  </a:rPr>
                  <a:t> </a:t>
                </a:r>
                <a:r>
                  <a:rPr lang="de-DE" sz="1200" b="1" dirty="0" err="1">
                    <a:solidFill>
                      <a:srgbClr val="FF0000"/>
                    </a:solidFill>
                  </a:rPr>
                  <a:t>if</a:t>
                </a:r>
                <a:r>
                  <a:rPr lang="de-DE" sz="1200" b="1" dirty="0">
                    <a:solidFill>
                      <a:srgbClr val="FF0000"/>
                    </a:solidFill>
                  </a:rPr>
                  <a:t> deployed: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dirty="0">
                    <a:solidFill>
                      <a:srgbClr val="FF0000"/>
                    </a:solidFill>
                  </a:rPr>
                  <a:t>Fails type approval under UNECE R156 (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software</a:t>
                </a:r>
                <a:r>
                  <a:rPr lang="de-DE" sz="1200" dirty="0">
                    <a:solidFill>
                      <a:srgbClr val="FF0000"/>
                    </a:solidFill>
                  </a:rPr>
                  <a:t> update management)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dirty="0">
                    <a:solidFill>
                      <a:srgbClr val="FF0000"/>
                    </a:solidFill>
                  </a:rPr>
                  <a:t>Violates EU AI Act high-risk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obligations</a:t>
                </a:r>
                <a:r>
                  <a:rPr lang="de-DE" sz="1200" dirty="0">
                    <a:solidFill>
                      <a:srgbClr val="FF0000"/>
                    </a:solidFill>
                  </a:rPr>
                  <a:t> →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market</a:t>
                </a:r>
                <a:r>
                  <a:rPr lang="de-DE" sz="1200" dirty="0">
                    <a:solidFill>
                      <a:srgbClr val="FF0000"/>
                    </a:solidFill>
                  </a:rPr>
                  <a:t>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withdrawal</a:t>
                </a:r>
                <a:r>
                  <a:rPr lang="de-DE" sz="1200" dirty="0">
                    <a:solidFill>
                      <a:srgbClr val="FF0000"/>
                    </a:solidFill>
                  </a:rPr>
                  <a:t> possible - Audit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trail</a:t>
                </a:r>
                <a:r>
                  <a:rPr lang="de-DE" sz="1200" dirty="0">
                    <a:solidFill>
                      <a:srgbClr val="FF0000"/>
                    </a:solidFill>
                  </a:rPr>
                  <a:t>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incomplete</a:t>
                </a:r>
                <a:r>
                  <a:rPr lang="de-DE" sz="1200" dirty="0">
                    <a:solidFill>
                      <a:srgbClr val="FF0000"/>
                    </a:solidFill>
                  </a:rPr>
                  <a:t> → cannot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demonstrate</a:t>
                </a:r>
                <a:r>
                  <a:rPr lang="de-DE" sz="1200" dirty="0">
                    <a:solidFill>
                      <a:srgbClr val="FF0000"/>
                    </a:solidFill>
                  </a:rPr>
                  <a:t> due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diligence</a:t>
                </a:r>
                <a:r>
                  <a:rPr lang="de-DE" sz="1200" dirty="0">
                    <a:solidFill>
                      <a:srgbClr val="FF0000"/>
                    </a:solidFill>
                  </a:rPr>
                  <a:t> in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court</a:t>
                </a:r>
                <a:r>
                  <a:rPr lang="de-DE" sz="1200" dirty="0">
                    <a:solidFill>
                      <a:srgbClr val="FF0000"/>
                    </a:solidFill>
                  </a:rPr>
                  <a:t>/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recall</a:t>
                </a:r>
                <a:r>
                  <a:rPr lang="de-DE" sz="120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171450" indent="-171450">
                  <a:buFontTx/>
                  <a:buChar char="-"/>
                </a:pPr>
                <a:r>
                  <a:rPr lang="de-DE" sz="1200" dirty="0">
                    <a:solidFill>
                      <a:srgbClr val="FF0000"/>
                    </a:solidFill>
                  </a:rPr>
                  <a:t>Vehicle fleet non-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compliant</a:t>
                </a:r>
                <a:r>
                  <a:rPr lang="de-DE" sz="1200" dirty="0">
                    <a:solidFill>
                      <a:srgbClr val="FF0000"/>
                    </a:solidFill>
                  </a:rPr>
                  <a:t> →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regulatory</a:t>
                </a:r>
                <a:r>
                  <a:rPr lang="de-DE" sz="1200" dirty="0">
                    <a:solidFill>
                      <a:srgbClr val="FF0000"/>
                    </a:solidFill>
                  </a:rPr>
                  <a:t>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stop-sale</a:t>
                </a:r>
                <a:r>
                  <a:rPr lang="de-DE" sz="1200" dirty="0">
                    <a:solidFill>
                      <a:srgbClr val="FF0000"/>
                    </a:solidFill>
                  </a:rPr>
                  <a:t> or massive </a:t>
                </a:r>
                <a:r>
                  <a:rPr lang="de-DE" sz="1200" dirty="0" err="1">
                    <a:solidFill>
                      <a:srgbClr val="FF0000"/>
                    </a:solidFill>
                  </a:rPr>
                  <a:t>recall</a:t>
                </a:r>
                <a:r>
                  <a:rPr lang="de-DE" sz="1200" dirty="0">
                    <a:solidFill>
                      <a:srgbClr val="FF0000"/>
                    </a:solidFill>
                  </a:rPr>
                  <a:t> risk</a:t>
                </a:r>
                <a:endParaRPr lang="de-DE" sz="1200" dirty="0">
                  <a:solidFill>
                    <a:srgbClr val="FF0000"/>
                  </a:solidFill>
                  <a:effectLst/>
                </a:endParaRPr>
              </a:p>
            </p:txBody>
          </p:sp>
        </p:grp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B88E584E-C0E3-3774-D5B1-23C379BDB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65336" y="2385867"/>
              <a:ext cx="4151134" cy="743028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0A4472D6-9B6C-2C19-8A0C-756A78D091C1}"/>
              </a:ext>
            </a:extLst>
          </p:cNvPr>
          <p:cNvGrpSpPr/>
          <p:nvPr/>
        </p:nvGrpSpPr>
        <p:grpSpPr>
          <a:xfrm>
            <a:off x="6994747" y="474191"/>
            <a:ext cx="4653238" cy="5896125"/>
            <a:chOff x="6842347" y="192251"/>
            <a:chExt cx="4653238" cy="5896125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D92949D8-ACAD-872C-17A0-3B0D5AF291B4}"/>
                </a:ext>
              </a:extLst>
            </p:cNvPr>
            <p:cNvSpPr/>
            <p:nvPr/>
          </p:nvSpPr>
          <p:spPr>
            <a:xfrm>
              <a:off x="6842347" y="192251"/>
              <a:ext cx="4653238" cy="589612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853E10E9-B28E-F21B-DCBF-A88680D4B22C}"/>
                </a:ext>
              </a:extLst>
            </p:cNvPr>
            <p:cNvSpPr txBox="1"/>
            <p:nvPr/>
          </p:nvSpPr>
          <p:spPr>
            <a:xfrm>
              <a:off x="7134017" y="294504"/>
              <a:ext cx="4151134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/>
                <a:t>Demo: </a:t>
              </a:r>
              <a:r>
                <a:rPr lang="de-DE" b="1" dirty="0">
                  <a:solidFill>
                    <a:srgbClr val="FF0000"/>
                  </a:solidFill>
                </a:rPr>
                <a:t>Unacceptable in Safety-Critical Systems</a:t>
              </a:r>
            </a:p>
            <a:p>
              <a:endParaRPr lang="de-DE" sz="1200" b="1" dirty="0">
                <a:solidFill>
                  <a:srgbClr val="FF0000"/>
                </a:solidFill>
              </a:endParaRPr>
            </a:p>
            <a:p>
              <a:r>
                <a:rPr lang="de-DE" sz="1200" b="1" dirty="0">
                  <a:solidFill>
                    <a:srgbClr val="FF0000"/>
                  </a:solidFill>
                </a:rPr>
                <a:t>Any </a:t>
              </a:r>
              <a:r>
                <a:rPr lang="de-DE" sz="1200" b="1" dirty="0" err="1">
                  <a:solidFill>
                    <a:srgbClr val="FF0000"/>
                  </a:solidFill>
                </a:rPr>
                <a:t>single</a:t>
              </a:r>
              <a:r>
                <a:rPr lang="de-DE" sz="1200" b="1" dirty="0">
                  <a:solidFill>
                    <a:srgbClr val="FF0000"/>
                  </a:solidFill>
                </a:rPr>
                <a:t> </a:t>
              </a:r>
              <a:r>
                <a:rPr lang="de-DE" sz="1200" b="1" dirty="0" err="1">
                  <a:solidFill>
                    <a:srgbClr val="FF0000"/>
                  </a:solidFill>
                </a:rPr>
                <a:t>one</a:t>
              </a:r>
              <a:r>
                <a:rPr lang="de-DE" sz="1200" b="1" dirty="0">
                  <a:solidFill>
                    <a:srgbClr val="FF0000"/>
                  </a:solidFill>
                </a:rPr>
                <a:t> </a:t>
              </a:r>
              <a:r>
                <a:rPr lang="de-DE" sz="1200" b="1" dirty="0"/>
                <a:t>of </a:t>
              </a:r>
              <a:r>
                <a:rPr lang="de-DE" sz="1200" b="1" dirty="0" err="1"/>
                <a:t>these</a:t>
              </a:r>
              <a:r>
                <a:rPr lang="de-DE" sz="1200" b="1" dirty="0"/>
                <a:t> LLM </a:t>
              </a:r>
              <a:r>
                <a:rPr lang="de-DE" sz="1200" b="1" dirty="0" err="1"/>
                <a:t>behaviors</a:t>
              </a:r>
              <a:r>
                <a:rPr lang="de-DE" sz="1200" b="1" dirty="0"/>
                <a:t> is </a:t>
              </a:r>
              <a:r>
                <a:rPr lang="de-DE" sz="1200" b="1" dirty="0" err="1"/>
                <a:t>disqualifying</a:t>
              </a:r>
              <a:r>
                <a:rPr lang="de-DE" sz="1200" b="1" dirty="0"/>
                <a:t> for ASIL-B/D or ISO 26262 / ISO/SAE 21434 systems:</a:t>
              </a:r>
            </a:p>
            <a:p>
              <a:endParaRPr lang="de-DE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Hallucinated emergency override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unauthorized remote code execution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Silent truncation of post-production vuln management → missed UNECE R155 72h reporting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Non-</a:t>
              </a:r>
              <a:r>
                <a:rPr lang="de-DE" sz="1200" dirty="0" err="1"/>
                <a:t>reproducible</a:t>
              </a:r>
              <a:r>
                <a:rPr lang="de-DE" sz="1200" dirty="0"/>
                <a:t> policy outcomes → cannot verify deployed behavior → Model lock-in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single-vendor dependency blocks re-certification → Regulatory omissions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dirty="0"/>
                <a:t>fails type approval &amp; EU AI Act high-risk </a:t>
              </a:r>
              <a:r>
                <a:rPr lang="de-DE" sz="1200" dirty="0" err="1"/>
                <a:t>obligations</a:t>
              </a:r>
              <a:endParaRPr lang="de-DE" sz="1200" dirty="0">
                <a:effectLst/>
              </a:endParaRP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BF7885BE-4BD3-2730-222F-2EA1ECC24CF8}"/>
                </a:ext>
              </a:extLst>
            </p:cNvPr>
            <p:cNvSpPr txBox="1"/>
            <p:nvPr/>
          </p:nvSpPr>
          <p:spPr>
            <a:xfrm>
              <a:off x="7134017" y="3456685"/>
              <a:ext cx="4151134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b="1" dirty="0">
                  <a:solidFill>
                    <a:srgbClr val="FF0000"/>
                  </a:solidFill>
                </a:rPr>
                <a:t>Real-</a:t>
              </a:r>
              <a:r>
                <a:rPr lang="de-DE" sz="1200" b="1" dirty="0" err="1">
                  <a:solidFill>
                    <a:srgbClr val="FF0000"/>
                  </a:solidFill>
                </a:rPr>
                <a:t>world</a:t>
              </a:r>
              <a:r>
                <a:rPr lang="de-DE" sz="1200" b="1" dirty="0">
                  <a:solidFill>
                    <a:srgbClr val="FF0000"/>
                  </a:solidFill>
                </a:rPr>
                <a:t> </a:t>
              </a:r>
              <a:r>
                <a:rPr lang="de-DE" sz="1200" b="1" dirty="0" err="1">
                  <a:solidFill>
                    <a:srgbClr val="FF0000"/>
                  </a:solidFill>
                </a:rPr>
                <a:t>consequence</a:t>
              </a:r>
              <a:r>
                <a:rPr lang="de-DE" sz="1200" b="1" dirty="0">
                  <a:solidFill>
                    <a:srgbClr val="FF0000"/>
                  </a:solidFill>
                </a:rPr>
                <a:t> in autonomous </a:t>
              </a:r>
              <a:r>
                <a:rPr lang="de-DE" sz="1200" b="1" dirty="0" err="1">
                  <a:solidFill>
                    <a:srgbClr val="FF0000"/>
                  </a:solidFill>
                </a:rPr>
                <a:t>vehicles</a:t>
              </a:r>
              <a:r>
                <a:rPr lang="de-DE" sz="1200" b="1" dirty="0">
                  <a:solidFill>
                    <a:srgbClr val="FF0000"/>
                  </a:solidFill>
                </a:rPr>
                <a:t>:</a:t>
              </a:r>
            </a:p>
            <a:p>
              <a:endParaRPr lang="de-DE" sz="1200" dirty="0"/>
            </a:p>
            <a:p>
              <a:r>
                <a:rPr lang="de-DE" sz="1200" dirty="0">
                  <a:solidFill>
                    <a:srgbClr val="FF0000"/>
                  </a:solidFill>
                </a:rPr>
                <a:t>One deployed unsafe policy / code / risk treatment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Leads to</a:t>
              </a:r>
              <a:r>
                <a:rPr lang="de-DE" sz="1200" dirty="0">
                  <a:solidFill>
                    <a:srgbClr val="FF0000"/>
                  </a:solidFill>
                </a:rPr>
                <a:t>: </a:t>
              </a:r>
              <a:r>
                <a:rPr lang="de-DE" sz="1200" dirty="0" err="1">
                  <a:solidFill>
                    <a:srgbClr val="FF0000"/>
                  </a:solidFill>
                </a:rPr>
                <a:t>unintended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  <a:r>
                <a:rPr lang="de-DE" sz="1200" dirty="0" err="1">
                  <a:solidFill>
                    <a:srgbClr val="FF0000"/>
                  </a:solidFill>
                </a:rPr>
                <a:t>acceleration</a:t>
              </a:r>
              <a:r>
                <a:rPr lang="de-DE" sz="1200" dirty="0">
                  <a:solidFill>
                    <a:srgbClr val="FF0000"/>
                  </a:solidFill>
                </a:rPr>
                <a:t>, </a:t>
              </a:r>
              <a:r>
                <a:rPr lang="de-DE" sz="1200" dirty="0" err="1">
                  <a:solidFill>
                    <a:srgbClr val="FF0000"/>
                  </a:solidFill>
                </a:rPr>
                <a:t>brake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  <a:r>
                <a:rPr lang="de-DE" sz="1200" dirty="0" err="1">
                  <a:solidFill>
                    <a:srgbClr val="FF0000"/>
                  </a:solidFill>
                </a:rPr>
                <a:t>failure</a:t>
              </a:r>
              <a:r>
                <a:rPr lang="de-DE" sz="1200" dirty="0">
                  <a:solidFill>
                    <a:srgbClr val="FF0000"/>
                  </a:solidFill>
                </a:rPr>
                <a:t>, </a:t>
              </a:r>
              <a:r>
                <a:rPr lang="de-DE" sz="1200" dirty="0" err="1">
                  <a:solidFill>
                    <a:srgbClr val="FF0000"/>
                  </a:solidFill>
                </a:rPr>
                <a:t>steering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  <a:r>
                <a:rPr lang="de-DE" sz="1200" dirty="0" err="1">
                  <a:solidFill>
                    <a:srgbClr val="FF0000"/>
                  </a:solidFill>
                </a:rPr>
                <a:t>loss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Results in</a:t>
              </a:r>
              <a:r>
                <a:rPr lang="de-DE" sz="1200" dirty="0">
                  <a:solidFill>
                    <a:srgbClr val="FF0000"/>
                  </a:solidFill>
                </a:rPr>
                <a:t>: fatal </a:t>
              </a:r>
              <a:r>
                <a:rPr lang="de-DE" sz="1200" dirty="0" err="1">
                  <a:solidFill>
                    <a:srgbClr val="FF0000"/>
                  </a:solidFill>
                </a:rPr>
                <a:t>crashes</a:t>
              </a:r>
              <a:r>
                <a:rPr lang="de-DE" sz="1200" dirty="0">
                  <a:solidFill>
                    <a:srgbClr val="FF0000"/>
                  </a:solidFill>
                </a:rPr>
                <a:t>, </a:t>
              </a:r>
              <a:r>
                <a:rPr lang="de-DE" sz="1200" dirty="0" err="1">
                  <a:solidFill>
                    <a:srgbClr val="FF0000"/>
                  </a:solidFill>
                </a:rPr>
                <a:t>class</a:t>
              </a:r>
              <a:r>
                <a:rPr lang="de-DE" sz="1200" dirty="0">
                  <a:solidFill>
                    <a:srgbClr val="FF0000"/>
                  </a:solidFill>
                </a:rPr>
                <a:t>-action </a:t>
              </a:r>
              <a:r>
                <a:rPr lang="de-DE" sz="1200" dirty="0" err="1">
                  <a:solidFill>
                    <a:srgbClr val="FF0000"/>
                  </a:solidFill>
                </a:rPr>
                <a:t>lawsuits</a:t>
              </a:r>
              <a:r>
                <a:rPr lang="de-DE" sz="1200" dirty="0">
                  <a:solidFill>
                    <a:srgbClr val="FF0000"/>
                  </a:solidFill>
                </a:rPr>
                <a:t>, </a:t>
              </a:r>
              <a:r>
                <a:rPr lang="de-DE" sz="1200" dirty="0" err="1">
                  <a:solidFill>
                    <a:srgbClr val="FF0000"/>
                  </a:solidFill>
                </a:rPr>
                <a:t>forced</a:t>
              </a:r>
              <a:r>
                <a:rPr lang="de-DE" sz="1200" dirty="0">
                  <a:solidFill>
                    <a:srgbClr val="FF0000"/>
                  </a:solidFill>
                </a:rPr>
                <a:t> fleet </a:t>
              </a:r>
              <a:r>
                <a:rPr lang="de-DE" sz="1200" dirty="0" err="1">
                  <a:solidFill>
                    <a:srgbClr val="FF0000"/>
                  </a:solidFill>
                </a:rPr>
                <a:t>recall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Ends </a:t>
              </a:r>
              <a:r>
                <a:rPr lang="de-DE" sz="1200" b="1" dirty="0" err="1">
                  <a:solidFill>
                    <a:srgbClr val="FF0000"/>
                  </a:solidFill>
                </a:rPr>
                <a:t>with</a:t>
              </a:r>
              <a:r>
                <a:rPr lang="de-DE" sz="1200" dirty="0">
                  <a:solidFill>
                    <a:srgbClr val="FF0000"/>
                  </a:solidFill>
                </a:rPr>
                <a:t>: </a:t>
              </a:r>
              <a:r>
                <a:rPr lang="de-DE" sz="1200" dirty="0" err="1">
                  <a:solidFill>
                    <a:srgbClr val="FF0000"/>
                  </a:solidFill>
                </a:rPr>
                <a:t>market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  <a:r>
                <a:rPr lang="de-DE" sz="1200" dirty="0" err="1">
                  <a:solidFill>
                    <a:srgbClr val="FF0000"/>
                  </a:solidFill>
                </a:rPr>
                <a:t>ban</a:t>
              </a:r>
              <a:r>
                <a:rPr lang="de-DE" sz="1200" dirty="0">
                  <a:solidFill>
                    <a:srgbClr val="FF0000"/>
                  </a:solidFill>
                </a:rPr>
                <a:t>, </a:t>
              </a:r>
              <a:r>
                <a:rPr lang="de-DE" sz="1200" dirty="0" err="1">
                  <a:solidFill>
                    <a:srgbClr val="FF0000"/>
                  </a:solidFill>
                </a:rPr>
                <a:t>criminal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  <a:r>
                <a:rPr lang="de-DE" sz="1200" dirty="0" err="1">
                  <a:solidFill>
                    <a:srgbClr val="FF0000"/>
                  </a:solidFill>
                </a:rPr>
                <a:t>liability</a:t>
              </a:r>
              <a:r>
                <a:rPr lang="de-DE" sz="1200" dirty="0">
                  <a:solidFill>
                    <a:srgbClr val="FF0000"/>
                  </a:solidFill>
                </a:rPr>
                <a:t> for </a:t>
              </a:r>
              <a:r>
                <a:rPr lang="de-DE" sz="1200" dirty="0" err="1">
                  <a:solidFill>
                    <a:srgbClr val="FF0000"/>
                  </a:solidFill>
                </a:rPr>
                <a:t>responsible</a:t>
              </a:r>
              <a:r>
                <a:rPr lang="de-DE" sz="1200" dirty="0">
                  <a:solidFill>
                    <a:srgbClr val="FF0000"/>
                  </a:solidFill>
                </a:rPr>
                <a:t> </a:t>
              </a:r>
              <a:r>
                <a:rPr lang="de-DE" sz="1200" dirty="0" err="1">
                  <a:solidFill>
                    <a:srgbClr val="FF0000"/>
                  </a:solidFill>
                </a:rPr>
                <a:t>engineers</a:t>
              </a:r>
              <a:r>
                <a:rPr lang="de-DE" sz="1200" dirty="0">
                  <a:solidFill>
                    <a:srgbClr val="FF0000"/>
                  </a:solidFill>
                </a:rPr>
                <a:t> &amp; OEM</a:t>
              </a:r>
            </a:p>
            <a:p>
              <a:endParaRPr lang="de-DE" sz="1200" dirty="0">
                <a:solidFill>
                  <a:srgbClr val="FF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 b="1" dirty="0">
                  <a:solidFill>
                    <a:srgbClr val="FF0000"/>
                  </a:solidFill>
                </a:rPr>
                <a:t>LLMs in </a:t>
              </a:r>
              <a:r>
                <a:rPr lang="de-DE" sz="1200" b="1" dirty="0" err="1">
                  <a:solidFill>
                    <a:srgbClr val="FF0000"/>
                  </a:solidFill>
                </a:rPr>
                <a:t>their</a:t>
              </a:r>
              <a:r>
                <a:rPr lang="de-DE" sz="1200" b="1" dirty="0">
                  <a:solidFill>
                    <a:srgbClr val="FF0000"/>
                  </a:solidFill>
                </a:rPr>
                <a:t> </a:t>
              </a:r>
              <a:r>
                <a:rPr lang="de-DE" sz="1200" b="1" dirty="0" err="1">
                  <a:solidFill>
                    <a:srgbClr val="FF0000"/>
                  </a:solidFill>
                </a:rPr>
                <a:t>current</a:t>
              </a:r>
              <a:r>
                <a:rPr lang="de-DE" sz="1200" b="1" dirty="0">
                  <a:solidFill>
                    <a:srgbClr val="FF0000"/>
                  </a:solidFill>
                </a:rPr>
                <a:t> form </a:t>
              </a:r>
              <a:r>
                <a:rPr lang="de-DE" sz="1200" b="1" dirty="0" err="1">
                  <a:solidFill>
                    <a:srgbClr val="FF0000"/>
                  </a:solidFill>
                </a:rPr>
                <a:t>are</a:t>
              </a:r>
              <a:r>
                <a:rPr lang="de-DE" sz="1200" b="1" dirty="0">
                  <a:solidFill>
                    <a:srgbClr val="FF0000"/>
                  </a:solidFill>
                </a:rPr>
                <a:t> UNACCEPTABLE</a:t>
              </a:r>
              <a:br>
                <a:rPr lang="de-DE" sz="1200" b="1" dirty="0">
                  <a:solidFill>
                    <a:srgbClr val="FF0000"/>
                  </a:solidFill>
                </a:rPr>
              </a:br>
              <a:r>
                <a:rPr lang="de-DE" sz="1200" dirty="0">
                  <a:solidFill>
                    <a:srgbClr val="FF0000"/>
                  </a:solidFill>
                </a:rPr>
                <a:t>for </a:t>
              </a:r>
              <a:r>
                <a:rPr lang="de-DE" sz="1200" dirty="0" err="1">
                  <a:solidFill>
                    <a:srgbClr val="FF0000"/>
                  </a:solidFill>
                </a:rPr>
                <a:t>any</a:t>
              </a:r>
              <a:r>
                <a:rPr lang="de-DE" sz="1200" dirty="0">
                  <a:solidFill>
                    <a:srgbClr val="FF0000"/>
                  </a:solidFill>
                </a:rPr>
                <a:t> safety-critical </a:t>
              </a:r>
              <a:r>
                <a:rPr lang="de-DE" sz="1200" dirty="0" err="1">
                  <a:solidFill>
                    <a:srgbClr val="FF0000"/>
                  </a:solidFill>
                </a:rPr>
                <a:t>decision</a:t>
              </a:r>
              <a:r>
                <a:rPr lang="de-DE" sz="1200" dirty="0">
                  <a:solidFill>
                    <a:srgbClr val="FF0000"/>
                  </a:solidFill>
                </a:rPr>
                <a:t>, </a:t>
              </a:r>
              <a:r>
                <a:rPr lang="de-DE" sz="1200" dirty="0" err="1">
                  <a:solidFill>
                    <a:srgbClr val="FF0000"/>
                  </a:solidFill>
                </a:rPr>
                <a:t>enforcement</a:t>
              </a:r>
              <a:r>
                <a:rPr lang="de-DE" sz="1200" dirty="0">
                  <a:solidFill>
                    <a:srgbClr val="FF0000"/>
                  </a:solidFill>
                </a:rPr>
                <a:t> or </a:t>
              </a:r>
              <a:r>
                <a:rPr lang="de-DE" sz="1200" dirty="0" err="1">
                  <a:solidFill>
                    <a:srgbClr val="FF0000"/>
                  </a:solidFill>
                </a:rPr>
                <a:t>documentation</a:t>
              </a:r>
              <a:r>
                <a:rPr lang="de-DE" sz="1200" dirty="0">
                  <a:solidFill>
                    <a:srgbClr val="FF0000"/>
                  </a:solidFill>
                </a:rPr>
                <a:t> in </a:t>
              </a:r>
              <a:r>
                <a:rPr lang="de-DE" sz="1200" dirty="0" err="1">
                  <a:solidFill>
                    <a:srgbClr val="FF0000"/>
                  </a:solidFill>
                </a:rPr>
                <a:t>vehicles</a:t>
              </a:r>
              <a:endParaRPr lang="de-DE" sz="1200" dirty="0">
                <a:solidFill>
                  <a:srgbClr val="FF0000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164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997</Words>
  <Application>Microsoft Office PowerPoint</Application>
  <PresentationFormat>Breitbild</PresentationFormat>
  <Paragraphs>138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</vt:lpstr>
      <vt:lpstr>Historical context: Automotive security</vt:lpstr>
      <vt:lpstr>The Paradigm Shift </vt:lpstr>
      <vt:lpstr>Zero Trust Architecture (ZTA) </vt:lpstr>
      <vt:lpstr>Problem </vt:lpstr>
      <vt:lpstr>LLMs: Potential &amp;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Walloschke, Thomas</dc:creator>
  <cp:keywords>, docId:CE9C6AC0B9E94DEED35FB7EC441CE82A</cp:keywords>
  <cp:lastModifiedBy>Walloschke, Thomas</cp:lastModifiedBy>
  <cp:revision>39</cp:revision>
  <dcterms:created xsi:type="dcterms:W3CDTF">2026-02-25T10:10:23Z</dcterms:created>
  <dcterms:modified xsi:type="dcterms:W3CDTF">2026-02-27T22:43:29Z</dcterms:modified>
</cp:coreProperties>
</file>