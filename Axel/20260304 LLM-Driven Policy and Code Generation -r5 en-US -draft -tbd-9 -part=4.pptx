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D45"/>
    <a:srgbClr val="AFF4C6"/>
    <a:srgbClr val="D1ECFF"/>
    <a:srgbClr val="050718"/>
    <a:srgbClr val="E97132"/>
    <a:srgbClr val="6B8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3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B443E7-2908-45BF-BC0B-A6B362A129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DFC6A2-C1BD-42DA-9383-98292007159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Discussion questions:</a:t>
          </a:r>
          <a:endParaRPr lang="en-US"/>
        </a:p>
      </dgm:t>
    </dgm:pt>
    <dgm:pt modelId="{7FE8CD54-ACFF-4F98-AF5C-68860D07269A}" type="parTrans" cxnId="{308BAE41-1F49-4C2E-8ED5-624248ABC31D}">
      <dgm:prSet/>
      <dgm:spPr/>
      <dgm:t>
        <a:bodyPr/>
        <a:lstStyle/>
        <a:p>
          <a:endParaRPr lang="en-US"/>
        </a:p>
      </dgm:t>
    </dgm:pt>
    <dgm:pt modelId="{2C3E2175-6101-4B4F-BC22-2787C802B053}" type="sibTrans" cxnId="{308BAE41-1F49-4C2E-8ED5-624248ABC31D}">
      <dgm:prSet/>
      <dgm:spPr/>
      <dgm:t>
        <a:bodyPr/>
        <a:lstStyle/>
        <a:p>
          <a:endParaRPr lang="en-US"/>
        </a:p>
      </dgm:t>
    </dgm:pt>
    <dgm:pt modelId="{0A66B47E-447C-43BF-A7B9-D60D5D99716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How do </a:t>
          </a:r>
          <a:r>
            <a:rPr lang="de-DE" dirty="0" err="1"/>
            <a:t>we</a:t>
          </a:r>
          <a:r>
            <a:rPr lang="de-DE" dirty="0"/>
            <a:t> </a:t>
          </a:r>
          <a:r>
            <a:rPr lang="de-DE" dirty="0" err="1"/>
            <a:t>standardize</a:t>
          </a:r>
          <a:r>
            <a:rPr lang="de-DE" dirty="0"/>
            <a:t> LLM-based policy generation?</a:t>
          </a:r>
          <a:endParaRPr lang="en-US" dirty="0"/>
        </a:p>
      </dgm:t>
    </dgm:pt>
    <dgm:pt modelId="{787C26CA-8C79-4B85-8700-8584D13F63E2}" type="parTrans" cxnId="{2F62DDBE-D028-4B9E-A03B-F701B86EE47C}">
      <dgm:prSet/>
      <dgm:spPr/>
      <dgm:t>
        <a:bodyPr/>
        <a:lstStyle/>
        <a:p>
          <a:endParaRPr lang="en-US"/>
        </a:p>
      </dgm:t>
    </dgm:pt>
    <dgm:pt modelId="{A425F34C-6613-43B8-B9FC-8B4B2F406207}" type="sibTrans" cxnId="{2F62DDBE-D028-4B9E-A03B-F701B86EE47C}">
      <dgm:prSet/>
      <dgm:spPr/>
      <dgm:t>
        <a:bodyPr/>
        <a:lstStyle/>
        <a:p>
          <a:endParaRPr lang="en-US"/>
        </a:p>
      </dgm:t>
    </dgm:pt>
    <dgm:pt modelId="{FB08FBCB-7C79-45BC-AD97-33A501DBF2E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Do </a:t>
          </a:r>
          <a:r>
            <a:rPr lang="de-DE" dirty="0" err="1"/>
            <a:t>we</a:t>
          </a:r>
          <a:r>
            <a:rPr lang="de-DE" dirty="0"/>
            <a:t> </a:t>
          </a:r>
          <a:r>
            <a:rPr lang="de-DE" dirty="0" err="1"/>
            <a:t>need</a:t>
          </a:r>
          <a:r>
            <a:rPr lang="de-DE" dirty="0"/>
            <a:t> </a:t>
          </a:r>
          <a:r>
            <a:rPr lang="de-DE" dirty="0" err="1"/>
            <a:t>regulatory</a:t>
          </a:r>
          <a:r>
            <a:rPr lang="de-DE" dirty="0"/>
            <a:t> </a:t>
          </a:r>
          <a:r>
            <a:rPr lang="de-DE" dirty="0" err="1"/>
            <a:t>guidelines</a:t>
          </a:r>
          <a:r>
            <a:rPr lang="de-DE" dirty="0"/>
            <a:t> for AI-</a:t>
          </a:r>
          <a:r>
            <a:rPr lang="de-DE" dirty="0" err="1"/>
            <a:t>assisted</a:t>
          </a:r>
          <a:r>
            <a:rPr lang="de-DE" dirty="0"/>
            <a:t> </a:t>
          </a:r>
          <a:r>
            <a:rPr lang="de-DE" dirty="0" err="1"/>
            <a:t>engineering</a:t>
          </a:r>
          <a:r>
            <a:rPr lang="de-DE" dirty="0"/>
            <a:t>?</a:t>
          </a:r>
          <a:endParaRPr lang="en-US" dirty="0"/>
        </a:p>
      </dgm:t>
    </dgm:pt>
    <dgm:pt modelId="{B1D2203E-4BE1-455D-B2C0-D5F21B8E79D0}" type="parTrans" cxnId="{77DDD524-AD21-4230-824D-D2DF24ADC873}">
      <dgm:prSet/>
      <dgm:spPr/>
      <dgm:t>
        <a:bodyPr/>
        <a:lstStyle/>
        <a:p>
          <a:endParaRPr lang="en-US"/>
        </a:p>
      </dgm:t>
    </dgm:pt>
    <dgm:pt modelId="{1B8DF314-5062-47EA-86A3-F6CC6EA396D9}" type="sibTrans" cxnId="{77DDD524-AD21-4230-824D-D2DF24ADC873}">
      <dgm:prSet/>
      <dgm:spPr/>
      <dgm:t>
        <a:bodyPr/>
        <a:lstStyle/>
        <a:p>
          <a:endParaRPr lang="en-US"/>
        </a:p>
      </dgm:t>
    </dgm:pt>
    <dgm:pt modelId="{FE6BCE32-B02F-4434-8FC2-B5A80BB5903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How do </a:t>
          </a:r>
          <a:r>
            <a:rPr lang="de-DE" dirty="0" err="1"/>
            <a:t>we</a:t>
          </a:r>
          <a:r>
            <a:rPr lang="de-DE" dirty="0"/>
            <a:t> </a:t>
          </a:r>
          <a:r>
            <a:rPr lang="de-DE" dirty="0" err="1"/>
            <a:t>combine</a:t>
          </a:r>
          <a:r>
            <a:rPr lang="de-DE" dirty="0"/>
            <a:t> formal methods </a:t>
          </a:r>
          <a:r>
            <a:rPr lang="de-DE" dirty="0" err="1"/>
            <a:t>with</a:t>
          </a:r>
          <a:r>
            <a:rPr lang="de-DE" dirty="0"/>
            <a:t> generative AI?</a:t>
          </a:r>
          <a:endParaRPr lang="en-US" dirty="0"/>
        </a:p>
      </dgm:t>
    </dgm:pt>
    <dgm:pt modelId="{CD1C6849-99BD-4EFB-A747-77095B138F23}" type="parTrans" cxnId="{58799AA8-24F1-4C46-B9ED-72D5507D6B5E}">
      <dgm:prSet/>
      <dgm:spPr/>
      <dgm:t>
        <a:bodyPr/>
        <a:lstStyle/>
        <a:p>
          <a:endParaRPr lang="en-US"/>
        </a:p>
      </dgm:t>
    </dgm:pt>
    <dgm:pt modelId="{AE144CA8-1A45-442F-A9E8-E7C0D33A9DD5}" type="sibTrans" cxnId="{58799AA8-24F1-4C46-B9ED-72D5507D6B5E}">
      <dgm:prSet/>
      <dgm:spPr/>
      <dgm:t>
        <a:bodyPr/>
        <a:lstStyle/>
        <a:p>
          <a:endParaRPr lang="en-US"/>
        </a:p>
      </dgm:t>
    </dgm:pt>
    <dgm:pt modelId="{F9F81C9E-850E-4D2C-909D-94E8AE8E6BAB}" type="pres">
      <dgm:prSet presAssocID="{69B443E7-2908-45BF-BC0B-A6B362A1298D}" presName="root" presStyleCnt="0">
        <dgm:presLayoutVars>
          <dgm:dir/>
          <dgm:resizeHandles val="exact"/>
        </dgm:presLayoutVars>
      </dgm:prSet>
      <dgm:spPr/>
    </dgm:pt>
    <dgm:pt modelId="{D2962850-6089-4CEB-AA71-FC4A651A9FCD}" type="pres">
      <dgm:prSet presAssocID="{A6DFC6A2-C1BD-42DA-9383-982920071591}" presName="compNode" presStyleCnt="0"/>
      <dgm:spPr/>
    </dgm:pt>
    <dgm:pt modelId="{2F2F25B1-3B3D-4486-A1AA-306F9BA3BC47}" type="pres">
      <dgm:prSet presAssocID="{A6DFC6A2-C1BD-42DA-9383-982920071591}" presName="bgRect" presStyleLbl="bgShp" presStyleIdx="0" presStyleCnt="4"/>
      <dgm:spPr/>
    </dgm:pt>
    <dgm:pt modelId="{47F1323E-3B64-4F90-B93C-023E16DE12EC}" type="pres">
      <dgm:prSet presAssocID="{A6DFC6A2-C1BD-42DA-9383-9829200715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B3C34A50-2597-4AB4-A85D-B05CD0717A06}" type="pres">
      <dgm:prSet presAssocID="{A6DFC6A2-C1BD-42DA-9383-982920071591}" presName="spaceRect" presStyleCnt="0"/>
      <dgm:spPr/>
    </dgm:pt>
    <dgm:pt modelId="{D2B4D567-8574-4A19-95DC-CE6B6F6CC3B8}" type="pres">
      <dgm:prSet presAssocID="{A6DFC6A2-C1BD-42DA-9383-982920071591}" presName="parTx" presStyleLbl="revTx" presStyleIdx="0" presStyleCnt="4">
        <dgm:presLayoutVars>
          <dgm:chMax val="0"/>
          <dgm:chPref val="0"/>
        </dgm:presLayoutVars>
      </dgm:prSet>
      <dgm:spPr/>
    </dgm:pt>
    <dgm:pt modelId="{B3C7DD91-8910-4109-91F7-92E886CEB83F}" type="pres">
      <dgm:prSet presAssocID="{2C3E2175-6101-4B4F-BC22-2787C802B053}" presName="sibTrans" presStyleCnt="0"/>
      <dgm:spPr/>
    </dgm:pt>
    <dgm:pt modelId="{B1D4D262-38CE-429F-B21E-A785695BB099}" type="pres">
      <dgm:prSet presAssocID="{0A66B47E-447C-43BF-A7B9-D60D5D99716F}" presName="compNode" presStyleCnt="0"/>
      <dgm:spPr/>
    </dgm:pt>
    <dgm:pt modelId="{39E719A6-6081-4261-AD20-E871E016E109}" type="pres">
      <dgm:prSet presAssocID="{0A66B47E-447C-43BF-A7B9-D60D5D99716F}" presName="bgRect" presStyleLbl="bgShp" presStyleIdx="1" presStyleCnt="4"/>
      <dgm:spPr/>
    </dgm:pt>
    <dgm:pt modelId="{2F97C4D4-C209-4905-94E5-3B783B282007}" type="pres">
      <dgm:prSet presAssocID="{0A66B47E-447C-43BF-A7B9-D60D5D99716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41D219CA-FC9F-4D01-9561-6FFC1CAC76F4}" type="pres">
      <dgm:prSet presAssocID="{0A66B47E-447C-43BF-A7B9-D60D5D99716F}" presName="spaceRect" presStyleCnt="0"/>
      <dgm:spPr/>
    </dgm:pt>
    <dgm:pt modelId="{3F5A37E4-7F8F-4DA2-939B-86832460591A}" type="pres">
      <dgm:prSet presAssocID="{0A66B47E-447C-43BF-A7B9-D60D5D99716F}" presName="parTx" presStyleLbl="revTx" presStyleIdx="1" presStyleCnt="4">
        <dgm:presLayoutVars>
          <dgm:chMax val="0"/>
          <dgm:chPref val="0"/>
        </dgm:presLayoutVars>
      </dgm:prSet>
      <dgm:spPr/>
    </dgm:pt>
    <dgm:pt modelId="{72D2EB2B-13D3-4A41-89B7-A8DDC6601FB9}" type="pres">
      <dgm:prSet presAssocID="{A425F34C-6613-43B8-B9FC-8B4B2F406207}" presName="sibTrans" presStyleCnt="0"/>
      <dgm:spPr/>
    </dgm:pt>
    <dgm:pt modelId="{C574AF74-EFA2-404B-915B-EEA994BB9436}" type="pres">
      <dgm:prSet presAssocID="{FB08FBCB-7C79-45BC-AD97-33A501DBF2EA}" presName="compNode" presStyleCnt="0"/>
      <dgm:spPr/>
    </dgm:pt>
    <dgm:pt modelId="{3450B130-8A71-489B-8172-BB42556C0E5F}" type="pres">
      <dgm:prSet presAssocID="{FB08FBCB-7C79-45BC-AD97-33A501DBF2EA}" presName="bgRect" presStyleLbl="bgShp" presStyleIdx="2" presStyleCnt="4"/>
      <dgm:spPr/>
    </dgm:pt>
    <dgm:pt modelId="{68939EF9-7A82-44BA-96ED-62B0A9D9E4F4}" type="pres">
      <dgm:prSet presAssocID="{FB08FBCB-7C79-45BC-AD97-33A501DBF2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er"/>
        </a:ext>
      </dgm:extLst>
    </dgm:pt>
    <dgm:pt modelId="{03AD1EFE-BC4F-4B37-B3D4-2D278D8A4964}" type="pres">
      <dgm:prSet presAssocID="{FB08FBCB-7C79-45BC-AD97-33A501DBF2EA}" presName="spaceRect" presStyleCnt="0"/>
      <dgm:spPr/>
    </dgm:pt>
    <dgm:pt modelId="{B059A0DD-2969-4F43-A112-340F152B0770}" type="pres">
      <dgm:prSet presAssocID="{FB08FBCB-7C79-45BC-AD97-33A501DBF2EA}" presName="parTx" presStyleLbl="revTx" presStyleIdx="2" presStyleCnt="4">
        <dgm:presLayoutVars>
          <dgm:chMax val="0"/>
          <dgm:chPref val="0"/>
        </dgm:presLayoutVars>
      </dgm:prSet>
      <dgm:spPr/>
    </dgm:pt>
    <dgm:pt modelId="{ED9E64C1-FCD5-49F2-91F1-E6A4D083219E}" type="pres">
      <dgm:prSet presAssocID="{1B8DF314-5062-47EA-86A3-F6CC6EA396D9}" presName="sibTrans" presStyleCnt="0"/>
      <dgm:spPr/>
    </dgm:pt>
    <dgm:pt modelId="{7DE40ED8-5258-40DF-83FB-5E795EFC2D74}" type="pres">
      <dgm:prSet presAssocID="{FE6BCE32-B02F-4434-8FC2-B5A80BB5903F}" presName="compNode" presStyleCnt="0"/>
      <dgm:spPr/>
    </dgm:pt>
    <dgm:pt modelId="{F043BC01-4BCA-433E-B74F-9F1A6611BCA0}" type="pres">
      <dgm:prSet presAssocID="{FE6BCE32-B02F-4434-8FC2-B5A80BB5903F}" presName="bgRect" presStyleLbl="bgShp" presStyleIdx="3" presStyleCnt="4"/>
      <dgm:spPr/>
    </dgm:pt>
    <dgm:pt modelId="{E8490663-3231-488B-8EDE-781F91DCF3C3}" type="pres">
      <dgm:prSet presAssocID="{FE6BCE32-B02F-4434-8FC2-B5A80BB590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18DAB37-2B59-4873-BB05-D2BFFB373C14}" type="pres">
      <dgm:prSet presAssocID="{FE6BCE32-B02F-4434-8FC2-B5A80BB5903F}" presName="spaceRect" presStyleCnt="0"/>
      <dgm:spPr/>
    </dgm:pt>
    <dgm:pt modelId="{863F5E84-D1BD-4A99-8F7D-46313F418CFA}" type="pres">
      <dgm:prSet presAssocID="{FE6BCE32-B02F-4434-8FC2-B5A80BB5903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063E608-B172-4E87-A504-696E283B687F}" type="presOf" srcId="{0A66B47E-447C-43BF-A7B9-D60D5D99716F}" destId="{3F5A37E4-7F8F-4DA2-939B-86832460591A}" srcOrd="0" destOrd="0" presId="urn:microsoft.com/office/officeart/2018/2/layout/IconVerticalSolidList"/>
    <dgm:cxn modelId="{77DDD524-AD21-4230-824D-D2DF24ADC873}" srcId="{69B443E7-2908-45BF-BC0B-A6B362A1298D}" destId="{FB08FBCB-7C79-45BC-AD97-33A501DBF2EA}" srcOrd="2" destOrd="0" parTransId="{B1D2203E-4BE1-455D-B2C0-D5F21B8E79D0}" sibTransId="{1B8DF314-5062-47EA-86A3-F6CC6EA396D9}"/>
    <dgm:cxn modelId="{308BAE41-1F49-4C2E-8ED5-624248ABC31D}" srcId="{69B443E7-2908-45BF-BC0B-A6B362A1298D}" destId="{A6DFC6A2-C1BD-42DA-9383-982920071591}" srcOrd="0" destOrd="0" parTransId="{7FE8CD54-ACFF-4F98-AF5C-68860D07269A}" sibTransId="{2C3E2175-6101-4B4F-BC22-2787C802B053}"/>
    <dgm:cxn modelId="{58799AA8-24F1-4C46-B9ED-72D5507D6B5E}" srcId="{69B443E7-2908-45BF-BC0B-A6B362A1298D}" destId="{FE6BCE32-B02F-4434-8FC2-B5A80BB5903F}" srcOrd="3" destOrd="0" parTransId="{CD1C6849-99BD-4EFB-A747-77095B138F23}" sibTransId="{AE144CA8-1A45-442F-A9E8-E7C0D33A9DD5}"/>
    <dgm:cxn modelId="{5D71B3B8-5FD0-43E8-BD62-E12E10713874}" type="presOf" srcId="{69B443E7-2908-45BF-BC0B-A6B362A1298D}" destId="{F9F81C9E-850E-4D2C-909D-94E8AE8E6BAB}" srcOrd="0" destOrd="0" presId="urn:microsoft.com/office/officeart/2018/2/layout/IconVerticalSolidList"/>
    <dgm:cxn modelId="{2F62DDBE-D028-4B9E-A03B-F701B86EE47C}" srcId="{69B443E7-2908-45BF-BC0B-A6B362A1298D}" destId="{0A66B47E-447C-43BF-A7B9-D60D5D99716F}" srcOrd="1" destOrd="0" parTransId="{787C26CA-8C79-4B85-8700-8584D13F63E2}" sibTransId="{A425F34C-6613-43B8-B9FC-8B4B2F406207}"/>
    <dgm:cxn modelId="{02DBA2CE-7412-4B38-ACD3-6BF708FCD081}" type="presOf" srcId="{A6DFC6A2-C1BD-42DA-9383-982920071591}" destId="{D2B4D567-8574-4A19-95DC-CE6B6F6CC3B8}" srcOrd="0" destOrd="0" presId="urn:microsoft.com/office/officeart/2018/2/layout/IconVerticalSolidList"/>
    <dgm:cxn modelId="{F226E4DD-B7EF-4C5A-B0BE-61F576C149C7}" type="presOf" srcId="{FB08FBCB-7C79-45BC-AD97-33A501DBF2EA}" destId="{B059A0DD-2969-4F43-A112-340F152B0770}" srcOrd="0" destOrd="0" presId="urn:microsoft.com/office/officeart/2018/2/layout/IconVerticalSolidList"/>
    <dgm:cxn modelId="{A38D1FFF-1026-4FB0-BF56-B78147DE7BA3}" type="presOf" srcId="{FE6BCE32-B02F-4434-8FC2-B5A80BB5903F}" destId="{863F5E84-D1BD-4A99-8F7D-46313F418CFA}" srcOrd="0" destOrd="0" presId="urn:microsoft.com/office/officeart/2018/2/layout/IconVerticalSolidList"/>
    <dgm:cxn modelId="{1F8B7AD6-90BE-46F1-A0A2-E98CB6B9F17C}" type="presParOf" srcId="{F9F81C9E-850E-4D2C-909D-94E8AE8E6BAB}" destId="{D2962850-6089-4CEB-AA71-FC4A651A9FCD}" srcOrd="0" destOrd="0" presId="urn:microsoft.com/office/officeart/2018/2/layout/IconVerticalSolidList"/>
    <dgm:cxn modelId="{B8CA4580-1B5F-4328-9D1C-5A8EE3C62127}" type="presParOf" srcId="{D2962850-6089-4CEB-AA71-FC4A651A9FCD}" destId="{2F2F25B1-3B3D-4486-A1AA-306F9BA3BC47}" srcOrd="0" destOrd="0" presId="urn:microsoft.com/office/officeart/2018/2/layout/IconVerticalSolidList"/>
    <dgm:cxn modelId="{578B997B-0E31-499A-85BF-26C614DE97B1}" type="presParOf" srcId="{D2962850-6089-4CEB-AA71-FC4A651A9FCD}" destId="{47F1323E-3B64-4F90-B93C-023E16DE12EC}" srcOrd="1" destOrd="0" presId="urn:microsoft.com/office/officeart/2018/2/layout/IconVerticalSolidList"/>
    <dgm:cxn modelId="{000074DE-6B8E-4C20-B47C-33BDAAA827D5}" type="presParOf" srcId="{D2962850-6089-4CEB-AA71-FC4A651A9FCD}" destId="{B3C34A50-2597-4AB4-A85D-B05CD0717A06}" srcOrd="2" destOrd="0" presId="urn:microsoft.com/office/officeart/2018/2/layout/IconVerticalSolidList"/>
    <dgm:cxn modelId="{89436B74-3E85-4B4A-AEE5-D0BDD480B6A8}" type="presParOf" srcId="{D2962850-6089-4CEB-AA71-FC4A651A9FCD}" destId="{D2B4D567-8574-4A19-95DC-CE6B6F6CC3B8}" srcOrd="3" destOrd="0" presId="urn:microsoft.com/office/officeart/2018/2/layout/IconVerticalSolidList"/>
    <dgm:cxn modelId="{312A8FD0-A511-4D27-AA6E-C931E4A34E86}" type="presParOf" srcId="{F9F81C9E-850E-4D2C-909D-94E8AE8E6BAB}" destId="{B3C7DD91-8910-4109-91F7-92E886CEB83F}" srcOrd="1" destOrd="0" presId="urn:microsoft.com/office/officeart/2018/2/layout/IconVerticalSolidList"/>
    <dgm:cxn modelId="{3F00D5CC-1FDA-485D-BA13-9A99EDA19811}" type="presParOf" srcId="{F9F81C9E-850E-4D2C-909D-94E8AE8E6BAB}" destId="{B1D4D262-38CE-429F-B21E-A785695BB099}" srcOrd="2" destOrd="0" presId="urn:microsoft.com/office/officeart/2018/2/layout/IconVerticalSolidList"/>
    <dgm:cxn modelId="{F3C83F44-5DC1-467B-A9F1-DAA1CA258413}" type="presParOf" srcId="{B1D4D262-38CE-429F-B21E-A785695BB099}" destId="{39E719A6-6081-4261-AD20-E871E016E109}" srcOrd="0" destOrd="0" presId="urn:microsoft.com/office/officeart/2018/2/layout/IconVerticalSolidList"/>
    <dgm:cxn modelId="{C64B064D-9ECF-4997-B132-619B81FE574C}" type="presParOf" srcId="{B1D4D262-38CE-429F-B21E-A785695BB099}" destId="{2F97C4D4-C209-4905-94E5-3B783B282007}" srcOrd="1" destOrd="0" presId="urn:microsoft.com/office/officeart/2018/2/layout/IconVerticalSolidList"/>
    <dgm:cxn modelId="{5F18EE39-5329-4A85-B977-D3592A79A6D9}" type="presParOf" srcId="{B1D4D262-38CE-429F-B21E-A785695BB099}" destId="{41D219CA-FC9F-4D01-9561-6FFC1CAC76F4}" srcOrd="2" destOrd="0" presId="urn:microsoft.com/office/officeart/2018/2/layout/IconVerticalSolidList"/>
    <dgm:cxn modelId="{559F1FC8-3652-43CA-9D31-34060E52D4D9}" type="presParOf" srcId="{B1D4D262-38CE-429F-B21E-A785695BB099}" destId="{3F5A37E4-7F8F-4DA2-939B-86832460591A}" srcOrd="3" destOrd="0" presId="urn:microsoft.com/office/officeart/2018/2/layout/IconVerticalSolidList"/>
    <dgm:cxn modelId="{CFDECDBD-6677-4B28-BAF9-7CBBBA492D57}" type="presParOf" srcId="{F9F81C9E-850E-4D2C-909D-94E8AE8E6BAB}" destId="{72D2EB2B-13D3-4A41-89B7-A8DDC6601FB9}" srcOrd="3" destOrd="0" presId="urn:microsoft.com/office/officeart/2018/2/layout/IconVerticalSolidList"/>
    <dgm:cxn modelId="{57E6294A-4B12-4ED2-9F5D-2398F2620BAF}" type="presParOf" srcId="{F9F81C9E-850E-4D2C-909D-94E8AE8E6BAB}" destId="{C574AF74-EFA2-404B-915B-EEA994BB9436}" srcOrd="4" destOrd="0" presId="urn:microsoft.com/office/officeart/2018/2/layout/IconVerticalSolidList"/>
    <dgm:cxn modelId="{D9861012-C472-49B3-B583-D67B6B35D42E}" type="presParOf" srcId="{C574AF74-EFA2-404B-915B-EEA994BB9436}" destId="{3450B130-8A71-489B-8172-BB42556C0E5F}" srcOrd="0" destOrd="0" presId="urn:microsoft.com/office/officeart/2018/2/layout/IconVerticalSolidList"/>
    <dgm:cxn modelId="{AE2C9751-FD15-4FA3-BB46-BE81934B2A3B}" type="presParOf" srcId="{C574AF74-EFA2-404B-915B-EEA994BB9436}" destId="{68939EF9-7A82-44BA-96ED-62B0A9D9E4F4}" srcOrd="1" destOrd="0" presId="urn:microsoft.com/office/officeart/2018/2/layout/IconVerticalSolidList"/>
    <dgm:cxn modelId="{8B6F8B9E-A8C6-4268-BC65-B902CAC1FA65}" type="presParOf" srcId="{C574AF74-EFA2-404B-915B-EEA994BB9436}" destId="{03AD1EFE-BC4F-4B37-B3D4-2D278D8A4964}" srcOrd="2" destOrd="0" presId="urn:microsoft.com/office/officeart/2018/2/layout/IconVerticalSolidList"/>
    <dgm:cxn modelId="{94ED75C2-B94D-4F9C-99DC-57331E871A1F}" type="presParOf" srcId="{C574AF74-EFA2-404B-915B-EEA994BB9436}" destId="{B059A0DD-2969-4F43-A112-340F152B0770}" srcOrd="3" destOrd="0" presId="urn:microsoft.com/office/officeart/2018/2/layout/IconVerticalSolidList"/>
    <dgm:cxn modelId="{61CF99AF-EBDE-42A0-8890-AEE0D4F4682D}" type="presParOf" srcId="{F9F81C9E-850E-4D2C-909D-94E8AE8E6BAB}" destId="{ED9E64C1-FCD5-49F2-91F1-E6A4D083219E}" srcOrd="5" destOrd="0" presId="urn:microsoft.com/office/officeart/2018/2/layout/IconVerticalSolidList"/>
    <dgm:cxn modelId="{BD7D4BAE-6830-4D2C-AF6E-095C615D28E2}" type="presParOf" srcId="{F9F81C9E-850E-4D2C-909D-94E8AE8E6BAB}" destId="{7DE40ED8-5258-40DF-83FB-5E795EFC2D74}" srcOrd="6" destOrd="0" presId="urn:microsoft.com/office/officeart/2018/2/layout/IconVerticalSolidList"/>
    <dgm:cxn modelId="{CB7B0B7D-2668-42C6-80B6-61AE27ACE536}" type="presParOf" srcId="{7DE40ED8-5258-40DF-83FB-5E795EFC2D74}" destId="{F043BC01-4BCA-433E-B74F-9F1A6611BCA0}" srcOrd="0" destOrd="0" presId="urn:microsoft.com/office/officeart/2018/2/layout/IconVerticalSolidList"/>
    <dgm:cxn modelId="{1866DD37-743D-4BAB-B503-B818F3DE5540}" type="presParOf" srcId="{7DE40ED8-5258-40DF-83FB-5E795EFC2D74}" destId="{E8490663-3231-488B-8EDE-781F91DCF3C3}" srcOrd="1" destOrd="0" presId="urn:microsoft.com/office/officeart/2018/2/layout/IconVerticalSolidList"/>
    <dgm:cxn modelId="{54E0D919-2501-404B-A996-81741D86B801}" type="presParOf" srcId="{7DE40ED8-5258-40DF-83FB-5E795EFC2D74}" destId="{218DAB37-2B59-4873-BB05-D2BFFB373C14}" srcOrd="2" destOrd="0" presId="urn:microsoft.com/office/officeart/2018/2/layout/IconVerticalSolidList"/>
    <dgm:cxn modelId="{C281A5F5-CB9B-4451-B021-E72E8EC6A5F0}" type="presParOf" srcId="{7DE40ED8-5258-40DF-83FB-5E795EFC2D74}" destId="{863F5E84-D1BD-4A99-8F7D-46313F418C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F25B1-3B3D-4486-A1AA-306F9BA3BC47}">
      <dsp:nvSpPr>
        <dsp:cNvPr id="0" name=""/>
        <dsp:cNvSpPr/>
      </dsp:nvSpPr>
      <dsp:spPr>
        <a:xfrm>
          <a:off x="0" y="1050"/>
          <a:ext cx="7315200" cy="532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1323E-3B64-4F90-B93C-023E16DE12EC}">
      <dsp:nvSpPr>
        <dsp:cNvPr id="0" name=""/>
        <dsp:cNvSpPr/>
      </dsp:nvSpPr>
      <dsp:spPr>
        <a:xfrm>
          <a:off x="161085" y="120866"/>
          <a:ext cx="292882" cy="292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4D567-8574-4A19-95DC-CE6B6F6CC3B8}">
      <dsp:nvSpPr>
        <dsp:cNvPr id="0" name=""/>
        <dsp:cNvSpPr/>
      </dsp:nvSpPr>
      <dsp:spPr>
        <a:xfrm>
          <a:off x="615052" y="1050"/>
          <a:ext cx="6700147" cy="532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58" tIns="56358" rIns="56358" bIns="56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Discussion questions:</a:t>
          </a:r>
          <a:endParaRPr lang="en-US" sz="1900" kern="1200"/>
        </a:p>
      </dsp:txBody>
      <dsp:txXfrm>
        <a:off x="615052" y="1050"/>
        <a:ext cx="6700147" cy="532513"/>
      </dsp:txXfrm>
    </dsp:sp>
    <dsp:sp modelId="{39E719A6-6081-4261-AD20-E871E016E109}">
      <dsp:nvSpPr>
        <dsp:cNvPr id="0" name=""/>
        <dsp:cNvSpPr/>
      </dsp:nvSpPr>
      <dsp:spPr>
        <a:xfrm>
          <a:off x="0" y="666692"/>
          <a:ext cx="7315200" cy="532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7C4D4-C209-4905-94E5-3B783B282007}">
      <dsp:nvSpPr>
        <dsp:cNvPr id="0" name=""/>
        <dsp:cNvSpPr/>
      </dsp:nvSpPr>
      <dsp:spPr>
        <a:xfrm>
          <a:off x="161085" y="786507"/>
          <a:ext cx="292882" cy="292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A37E4-7F8F-4DA2-939B-86832460591A}">
      <dsp:nvSpPr>
        <dsp:cNvPr id="0" name=""/>
        <dsp:cNvSpPr/>
      </dsp:nvSpPr>
      <dsp:spPr>
        <a:xfrm>
          <a:off x="615052" y="666692"/>
          <a:ext cx="6700147" cy="532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58" tIns="56358" rIns="56358" bIns="56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How do </a:t>
          </a:r>
          <a:r>
            <a:rPr lang="de-DE" sz="1900" kern="1200" dirty="0" err="1"/>
            <a:t>we</a:t>
          </a:r>
          <a:r>
            <a:rPr lang="de-DE" sz="1900" kern="1200" dirty="0"/>
            <a:t> </a:t>
          </a:r>
          <a:r>
            <a:rPr lang="de-DE" sz="1900" kern="1200" dirty="0" err="1"/>
            <a:t>standardize</a:t>
          </a:r>
          <a:r>
            <a:rPr lang="de-DE" sz="1900" kern="1200" dirty="0"/>
            <a:t> LLM-based policy generation?</a:t>
          </a:r>
          <a:endParaRPr lang="en-US" sz="1900" kern="1200" dirty="0"/>
        </a:p>
      </dsp:txBody>
      <dsp:txXfrm>
        <a:off x="615052" y="666692"/>
        <a:ext cx="6700147" cy="532513"/>
      </dsp:txXfrm>
    </dsp:sp>
    <dsp:sp modelId="{3450B130-8A71-489B-8172-BB42556C0E5F}">
      <dsp:nvSpPr>
        <dsp:cNvPr id="0" name=""/>
        <dsp:cNvSpPr/>
      </dsp:nvSpPr>
      <dsp:spPr>
        <a:xfrm>
          <a:off x="0" y="1332334"/>
          <a:ext cx="7315200" cy="532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39EF9-7A82-44BA-96ED-62B0A9D9E4F4}">
      <dsp:nvSpPr>
        <dsp:cNvPr id="0" name=""/>
        <dsp:cNvSpPr/>
      </dsp:nvSpPr>
      <dsp:spPr>
        <a:xfrm>
          <a:off x="161085" y="1452149"/>
          <a:ext cx="292882" cy="2928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9A0DD-2969-4F43-A112-340F152B0770}">
      <dsp:nvSpPr>
        <dsp:cNvPr id="0" name=""/>
        <dsp:cNvSpPr/>
      </dsp:nvSpPr>
      <dsp:spPr>
        <a:xfrm>
          <a:off x="615052" y="1332334"/>
          <a:ext cx="6700147" cy="532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58" tIns="56358" rIns="56358" bIns="56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Do </a:t>
          </a:r>
          <a:r>
            <a:rPr lang="de-DE" sz="1900" kern="1200" dirty="0" err="1"/>
            <a:t>we</a:t>
          </a:r>
          <a:r>
            <a:rPr lang="de-DE" sz="1900" kern="1200" dirty="0"/>
            <a:t> </a:t>
          </a:r>
          <a:r>
            <a:rPr lang="de-DE" sz="1900" kern="1200" dirty="0" err="1"/>
            <a:t>need</a:t>
          </a:r>
          <a:r>
            <a:rPr lang="de-DE" sz="1900" kern="1200" dirty="0"/>
            <a:t> </a:t>
          </a:r>
          <a:r>
            <a:rPr lang="de-DE" sz="1900" kern="1200" dirty="0" err="1"/>
            <a:t>regulatory</a:t>
          </a:r>
          <a:r>
            <a:rPr lang="de-DE" sz="1900" kern="1200" dirty="0"/>
            <a:t> </a:t>
          </a:r>
          <a:r>
            <a:rPr lang="de-DE" sz="1900" kern="1200" dirty="0" err="1"/>
            <a:t>guidelines</a:t>
          </a:r>
          <a:r>
            <a:rPr lang="de-DE" sz="1900" kern="1200" dirty="0"/>
            <a:t> for AI-</a:t>
          </a:r>
          <a:r>
            <a:rPr lang="de-DE" sz="1900" kern="1200" dirty="0" err="1"/>
            <a:t>assisted</a:t>
          </a:r>
          <a:r>
            <a:rPr lang="de-DE" sz="1900" kern="1200" dirty="0"/>
            <a:t> </a:t>
          </a:r>
          <a:r>
            <a:rPr lang="de-DE" sz="1900" kern="1200" dirty="0" err="1"/>
            <a:t>engineering</a:t>
          </a:r>
          <a:r>
            <a:rPr lang="de-DE" sz="1900" kern="1200" dirty="0"/>
            <a:t>?</a:t>
          </a:r>
          <a:endParaRPr lang="en-US" sz="1900" kern="1200" dirty="0"/>
        </a:p>
      </dsp:txBody>
      <dsp:txXfrm>
        <a:off x="615052" y="1332334"/>
        <a:ext cx="6700147" cy="532513"/>
      </dsp:txXfrm>
    </dsp:sp>
    <dsp:sp modelId="{F043BC01-4BCA-433E-B74F-9F1A6611BCA0}">
      <dsp:nvSpPr>
        <dsp:cNvPr id="0" name=""/>
        <dsp:cNvSpPr/>
      </dsp:nvSpPr>
      <dsp:spPr>
        <a:xfrm>
          <a:off x="0" y="1997975"/>
          <a:ext cx="7315200" cy="532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90663-3231-488B-8EDE-781F91DCF3C3}">
      <dsp:nvSpPr>
        <dsp:cNvPr id="0" name=""/>
        <dsp:cNvSpPr/>
      </dsp:nvSpPr>
      <dsp:spPr>
        <a:xfrm>
          <a:off x="161085" y="2117791"/>
          <a:ext cx="292882" cy="2928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F5E84-D1BD-4A99-8F7D-46313F418CFA}">
      <dsp:nvSpPr>
        <dsp:cNvPr id="0" name=""/>
        <dsp:cNvSpPr/>
      </dsp:nvSpPr>
      <dsp:spPr>
        <a:xfrm>
          <a:off x="615052" y="1997975"/>
          <a:ext cx="6700147" cy="532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58" tIns="56358" rIns="56358" bIns="56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How do </a:t>
          </a:r>
          <a:r>
            <a:rPr lang="de-DE" sz="1900" kern="1200" dirty="0" err="1"/>
            <a:t>we</a:t>
          </a:r>
          <a:r>
            <a:rPr lang="de-DE" sz="1900" kern="1200" dirty="0"/>
            <a:t> </a:t>
          </a:r>
          <a:r>
            <a:rPr lang="de-DE" sz="1900" kern="1200" dirty="0" err="1"/>
            <a:t>combine</a:t>
          </a:r>
          <a:r>
            <a:rPr lang="de-DE" sz="1900" kern="1200" dirty="0"/>
            <a:t> formal methods </a:t>
          </a:r>
          <a:r>
            <a:rPr lang="de-DE" sz="1900" kern="1200" dirty="0" err="1"/>
            <a:t>with</a:t>
          </a:r>
          <a:r>
            <a:rPr lang="de-DE" sz="1900" kern="1200" dirty="0"/>
            <a:t> generative AI?</a:t>
          </a:r>
          <a:endParaRPr lang="en-US" sz="1900" kern="1200" dirty="0"/>
        </a:p>
      </dsp:txBody>
      <dsp:txXfrm>
        <a:off x="615052" y="1997975"/>
        <a:ext cx="6700147" cy="5325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83354-5A36-47E3-A111-60C3F865B5E0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A6B74-D9C4-4AC9-9116-8EB3D84582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8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6B74-D9C4-4AC9-9116-8EB3D84582D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69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6B74-D9C4-4AC9-9116-8EB3D84582D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950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2F9E3-9E98-FCDB-D1C7-BB5A81279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0CB12-2802-5A83-FE15-50220A993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5C67C6-628E-00CE-64FC-7BB6EE84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756C62-7AC0-45CE-C31F-07E39A36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9803E-FC0F-9D34-079A-76CF9900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26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86476-2455-3F01-92BA-4F2E1421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C80E41-BB1B-1E21-1FDE-5D932611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FDFDC7-01F0-E6A0-45B2-885A1192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BE224-EC0E-A916-9950-4DB4C628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EAA2C4-CE27-1216-59BC-503A437C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51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9E1185-8428-7A13-4470-2F193508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3540C5-941A-785D-5391-4210DC718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AEBE1A-C892-C62B-04C4-B02AF848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7FBF31-71A4-08F9-A606-76472177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913D9D-725C-AD4B-698C-827FB55D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86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BD93B-9DB3-13C3-5FE1-572B352B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AC83D-0573-EC9F-3737-D9D946E31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8468D6-26EE-F784-B2B2-7CAF0EEA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91057E-E02B-93EC-7638-BF8BB0D5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1E6E78-5C2F-8421-4981-605800A5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B137EA-DA66-9821-ED78-7225C114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15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7DCF3-0213-254B-439B-3B2D4A1B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B6C595-7576-A172-3177-CC39C0E7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0752CD-FF9B-23A1-87FA-4F0C5A1F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8C6F60-563F-B10C-B2BC-0C3F850DA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1D453-256F-15A0-15CE-9AFD834E5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BBF07E-A905-D8FB-4C45-FA6BFFE9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335ECA-B384-1B53-3581-859DF9C6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1886FA-2128-18BB-DABB-3C51D9D2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1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5317E-4576-BF51-A796-08D33DC2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3F79AA-A2F7-473B-B747-6325AC24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C1D8C0-FDE4-25E5-5B52-ECA06275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985BC7-A6BC-7D3A-507B-4D62F42F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20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B98D2E-9AB2-73C3-4FEA-EBDA4BEF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0E8E18-B48F-A508-EDBD-0891CF3C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D0284D-C393-0D83-3168-4E94E589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62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1589C-AA10-5A77-14B1-DA6BB1B6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650C88-AF90-797B-AF00-F70689C4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1B770A-D623-16F3-342C-0BD503BE0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00E30D-DEAD-ADF0-18E5-C52634DF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F7F624-B3A5-5B15-C89C-C01786FA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2F5667-3D9C-038E-5814-87F92DAB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2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62E92-0374-21DE-E94F-5A3F1B1A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2DB591D-AE30-B5D0-5446-96B95E5AC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B0CD26-508F-4AAD-2EB2-292BC3EEA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0290AE-DB33-4008-7ABC-980CE1D4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2350D7-80FD-E5B2-0306-F4B466AD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23477D-0F73-C07E-8C8B-C4D6BE86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19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1CB04-C277-35DE-922B-BA896209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33CD77-4486-CBB0-62DA-000DCDDE2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709EC-99D2-AF9C-FCF3-FE5B4D70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885684-014B-242A-B273-0A7620D4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B87B35-20BC-4001-9140-5B22C84C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69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B7F48C0-6527-91AF-8DBF-C0E7B5409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5AAE69-093E-4A7C-94A5-D6D052613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2A23DA-40AB-49DA-5478-E480D5EB8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82BF27-4038-AF5E-8C5F-4485FB5A9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669AB-1FCB-D9E1-8291-3468C2C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1187C94-4E82-0C14-1B77-A4FC36B6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Edit master title format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0269F2-CFE8-76EF-ED9C-2916FE8F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499FE2-3142-8799-3A89-AF00BAEEE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808D97-0F25-EDD1-854D-87454DE6A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CE9E3-4449-48B6-8A68-AEBC50E37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070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m.schmitt@sap.com" TargetMode="External"/><Relationship Id="rId3" Type="http://schemas.openxmlformats.org/officeDocument/2006/relationships/diagramLayout" Target="../diagrams/layout1.xml"/><Relationship Id="rId7" Type="http://schemas.openxmlformats.org/officeDocument/2006/relationships/hyperlink" Target="mailto:thomas.walloschke@secon-tc.eu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9712AF-9DCA-26EF-224E-3766249F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 fontScale="90000"/>
          </a:bodyPr>
          <a:lstStyle/>
          <a:p>
            <a:pPr algn="r"/>
            <a:r>
              <a:rPr lang="de-DE" b="1" dirty="0" err="1">
                <a:solidFill>
                  <a:schemeClr val="bg1"/>
                </a:solidFill>
              </a:rPr>
              <a:t>Our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proof</a:t>
            </a:r>
            <a:r>
              <a:rPr lang="de-DE" b="1" dirty="0">
                <a:solidFill>
                  <a:schemeClr val="bg1"/>
                </a:solidFill>
              </a:rPr>
              <a:t>-of-</a:t>
            </a:r>
            <a:r>
              <a:rPr lang="de-DE" b="1" dirty="0" err="1">
                <a:solidFill>
                  <a:schemeClr val="bg1"/>
                </a:solidFill>
              </a:rPr>
              <a:t>concept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approach</a:t>
            </a:r>
            <a:br>
              <a:rPr lang="de-DE" sz="2800" b="1" dirty="0">
                <a:solidFill>
                  <a:schemeClr val="bg1"/>
                </a:solidFill>
              </a:rPr>
            </a:br>
            <a:endParaRPr lang="de-DE" sz="28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247B1C-C693-2EF3-32E7-649B3D38F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1900" dirty="0" err="1">
                <a:solidFill>
                  <a:schemeClr val="bg1"/>
                </a:solidFill>
              </a:rPr>
              <a:t>We</a:t>
            </a:r>
            <a:r>
              <a:rPr lang="de-DE" sz="1900" dirty="0">
                <a:solidFill>
                  <a:schemeClr val="bg1"/>
                </a:solidFill>
              </a:rPr>
              <a:t> </a:t>
            </a:r>
            <a:r>
              <a:rPr lang="de-DE" sz="1900" dirty="0" err="1">
                <a:solidFill>
                  <a:schemeClr val="bg1"/>
                </a:solidFill>
              </a:rPr>
              <a:t>propose</a:t>
            </a:r>
            <a:r>
              <a:rPr lang="de-DE" sz="19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de-DE" sz="19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Multi-stage LLM-driven </a:t>
            </a:r>
            <a:r>
              <a:rPr lang="de-DE" sz="19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framework</a:t>
            </a:r>
            <a:endParaRPr lang="de-DE" sz="19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de-DE" sz="1900" dirty="0">
                <a:solidFill>
                  <a:srgbClr val="E97132"/>
                </a:solidFill>
              </a:rPr>
              <a:t>No "</a:t>
            </a:r>
            <a:r>
              <a:rPr lang="de-DE" sz="1900" dirty="0" err="1">
                <a:solidFill>
                  <a:srgbClr val="E97132"/>
                </a:solidFill>
              </a:rPr>
              <a:t>one-shot</a:t>
            </a:r>
            <a:r>
              <a:rPr lang="de-DE" sz="1900" dirty="0">
                <a:solidFill>
                  <a:srgbClr val="E97132"/>
                </a:solidFill>
              </a:rPr>
              <a:t> </a:t>
            </a:r>
            <a:r>
              <a:rPr lang="de-DE" sz="1900" dirty="0" err="1">
                <a:solidFill>
                  <a:srgbClr val="E97132"/>
                </a:solidFill>
              </a:rPr>
              <a:t>prompting</a:t>
            </a:r>
            <a:r>
              <a:rPr lang="de-DE" sz="1900" dirty="0">
                <a:solidFill>
                  <a:srgbClr val="E97132"/>
                </a:solidFill>
              </a:rPr>
              <a:t>,„</a:t>
            </a:r>
          </a:p>
          <a:p>
            <a:pPr marL="0" indent="0">
              <a:buNone/>
            </a:pPr>
            <a:r>
              <a:rPr lang="de-DE" sz="1900" dirty="0">
                <a:solidFill>
                  <a:schemeClr val="bg1"/>
                </a:solidFill>
              </a:rPr>
              <a:t>but </a:t>
            </a:r>
            <a:r>
              <a:rPr lang="de-DE" sz="1900" dirty="0" err="1">
                <a:solidFill>
                  <a:schemeClr val="bg1"/>
                </a:solidFill>
              </a:rPr>
              <a:t>rather</a:t>
            </a:r>
            <a:r>
              <a:rPr lang="de-DE" sz="1900" dirty="0">
                <a:solidFill>
                  <a:schemeClr val="bg1"/>
                </a:solidFill>
              </a:rPr>
              <a:t>:</a:t>
            </a:r>
          </a:p>
          <a:p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Iterative risk assessment</a:t>
            </a:r>
          </a:p>
          <a:p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Multi-Query Aggregation</a:t>
            </a:r>
          </a:p>
          <a:p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Structured prompt </a:t>
            </a:r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cascades</a:t>
            </a:r>
            <a:endParaRPr lang="de-DE" sz="19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Human-in-the-loop verification</a:t>
            </a:r>
          </a:p>
          <a:p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Strict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output </a:t>
            </a:r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formatting</a:t>
            </a:r>
            <a:endParaRPr lang="de-DE" sz="19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Asynchronous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– not in the real-time </a:t>
            </a:r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path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de-DE" sz="19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10C9A36-235D-563C-E8A2-B74AE0C6C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EC31C4C-9EED-4735-F499-F15CAA46E096}"/>
              </a:ext>
            </a:extLst>
          </p:cNvPr>
          <p:cNvGrpSpPr/>
          <p:nvPr/>
        </p:nvGrpSpPr>
        <p:grpSpPr>
          <a:xfrm>
            <a:off x="6390834" y="375488"/>
            <a:ext cx="5111245" cy="3044757"/>
            <a:chOff x="6390834" y="375488"/>
            <a:chExt cx="5111245" cy="3044757"/>
          </a:xfrm>
        </p:grpSpPr>
        <p:pic>
          <p:nvPicPr>
            <p:cNvPr id="4102" name="Picture 6" descr="Query Pipelines: How To Build Advanced RAG DAGs | LlamaIndex">
              <a:extLst>
                <a:ext uri="{FF2B5EF4-FFF2-40B4-BE49-F238E27FC236}">
                  <a16:creationId xmlns:a16="http://schemas.microsoft.com/office/drawing/2014/main" id="{9DBAB961-4D42-9E49-BA86-E6A1D425A1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0834" y="375488"/>
              <a:ext cx="5111245" cy="304475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A67FEF27-4B87-918C-7976-BB7AA6BF0E64}"/>
                </a:ext>
              </a:extLst>
            </p:cNvPr>
            <p:cNvSpPr/>
            <p:nvPr/>
          </p:nvSpPr>
          <p:spPr>
            <a:xfrm>
              <a:off x="7639455" y="1264596"/>
              <a:ext cx="629056" cy="460442"/>
            </a:xfrm>
            <a:prstGeom prst="rect">
              <a:avLst/>
            </a:prstGeom>
            <a:solidFill>
              <a:srgbClr val="D1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0BF93D4D-2198-7C8C-5F80-9E8910E0F4CE}"/>
                </a:ext>
              </a:extLst>
            </p:cNvPr>
            <p:cNvSpPr/>
            <p:nvPr/>
          </p:nvSpPr>
          <p:spPr>
            <a:xfrm>
              <a:off x="7283884" y="1498060"/>
              <a:ext cx="355571" cy="175097"/>
            </a:xfrm>
            <a:prstGeom prst="rect">
              <a:avLst/>
            </a:prstGeom>
            <a:solidFill>
              <a:srgbClr val="D1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B34B83A0-2504-A1CD-054D-6D7359711E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9455" y="1488332"/>
              <a:ext cx="629056" cy="324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 descr="Marke Kreuz mit einfarbiger Füllung">
              <a:extLst>
                <a:ext uri="{FF2B5EF4-FFF2-40B4-BE49-F238E27FC236}">
                  <a16:creationId xmlns:a16="http://schemas.microsoft.com/office/drawing/2014/main" id="{E53202D2-A2A6-6985-616A-EABE1BCD8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51386" y="1037351"/>
              <a:ext cx="914400" cy="914400"/>
            </a:xfrm>
            <a:prstGeom prst="rect">
              <a:avLst/>
            </a:prstGeom>
          </p:spPr>
        </p:pic>
        <p:sp>
          <p:nvSpPr>
            <p:cNvPr id="23" name="Rechteck: abgerundete Ecken 22">
              <a:extLst>
                <a:ext uri="{FF2B5EF4-FFF2-40B4-BE49-F238E27FC236}">
                  <a16:creationId xmlns:a16="http://schemas.microsoft.com/office/drawing/2014/main" id="{700BBBDB-C32C-81F1-0CD3-65E27E97F007}"/>
                </a:ext>
              </a:extLst>
            </p:cNvPr>
            <p:cNvSpPr/>
            <p:nvPr/>
          </p:nvSpPr>
          <p:spPr>
            <a:xfrm>
              <a:off x="6841787" y="1420238"/>
              <a:ext cx="233953" cy="161013"/>
            </a:xfrm>
            <a:prstGeom prst="roundRect">
              <a:avLst/>
            </a:prstGeom>
            <a:solidFill>
              <a:srgbClr val="AFF4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E226DDD0-8B7E-B943-23FB-224BA91DB51E}"/>
                </a:ext>
              </a:extLst>
            </p:cNvPr>
            <p:cNvSpPr txBox="1"/>
            <p:nvPr/>
          </p:nvSpPr>
          <p:spPr>
            <a:xfrm>
              <a:off x="6764174" y="1420238"/>
              <a:ext cx="66796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500" b="1" dirty="0"/>
                <a:t>Prompt</a:t>
              </a:r>
              <a:endParaRPr lang="de-DE" b="1" dirty="0"/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AC9BA51C-1DE8-76E6-9583-D124D24B8EE3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7CE02246-8875-9154-FA26-C113002055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0095" y="383784"/>
            <a:ext cx="3249450" cy="6090432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C9AA436-DC88-F08A-31D1-C2FFA72324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299" y="380736"/>
            <a:ext cx="3334801" cy="6096528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8B9DD942-D9BE-6E78-585B-C2BB70BCEE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0339" y="380736"/>
            <a:ext cx="2877561" cy="6096528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718CA1DF-0885-799C-4D6F-E4A5485A03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0339" y="380736"/>
            <a:ext cx="3334801" cy="6096528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B64E67B4-3FBF-AEAF-A4FC-9DBB7C12A7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2739" y="380736"/>
            <a:ext cx="3334801" cy="6096528"/>
          </a:xfrm>
          <a:prstGeom prst="rect">
            <a:avLst/>
          </a:prstGeom>
        </p:spPr>
      </p:pic>
      <p:pic>
        <p:nvPicPr>
          <p:cNvPr id="4101" name="Grafik 4100">
            <a:extLst>
              <a:ext uri="{FF2B5EF4-FFF2-40B4-BE49-F238E27FC236}">
                <a16:creationId xmlns:a16="http://schemas.microsoft.com/office/drawing/2014/main" id="{F0221AB6-1709-6581-6A0B-8014538FB7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8207" y="380736"/>
            <a:ext cx="2871465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1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B2E964-F80B-D2D1-1A38-69885F94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de-DE" sz="4000" b="1" dirty="0">
                <a:solidFill>
                  <a:schemeClr val="bg1"/>
                </a:solidFill>
              </a:rPr>
              <a:t>Architecture </a:t>
            </a:r>
            <a:r>
              <a:rPr lang="de-DE" sz="4000" b="1" dirty="0" err="1">
                <a:solidFill>
                  <a:schemeClr val="bg1"/>
                </a:solidFill>
              </a:rPr>
              <a:t>overview</a:t>
            </a:r>
            <a:endParaRPr lang="de-DE" sz="40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AB48A0-7D30-ECF7-37A0-2A4C9D072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800" b="1" dirty="0">
                <a:solidFill>
                  <a:schemeClr val="bg1"/>
                </a:solidFill>
              </a:rPr>
              <a:t>Stage 1 – Risk analysis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 err="1">
                <a:solidFill>
                  <a:schemeClr val="bg1"/>
                </a:solidFill>
              </a:rPr>
              <a:t>Threat</a:t>
            </a:r>
            <a:r>
              <a:rPr lang="de-DE" sz="800" dirty="0">
                <a:solidFill>
                  <a:schemeClr val="bg1"/>
                </a:solidFill>
              </a:rPr>
              <a:t> model</a:t>
            </a:r>
          </a:p>
          <a:p>
            <a:r>
              <a:rPr lang="de-DE" sz="800" dirty="0">
                <a:solidFill>
                  <a:schemeClr val="bg1"/>
                </a:solidFill>
              </a:rPr>
              <a:t>Compliance </a:t>
            </a:r>
            <a:r>
              <a:rPr lang="de-DE" sz="800" dirty="0" err="1">
                <a:solidFill>
                  <a:schemeClr val="bg1"/>
                </a:solidFill>
              </a:rPr>
              <a:t>comparison</a:t>
            </a:r>
            <a:r>
              <a:rPr lang="de-DE" sz="800" dirty="0">
                <a:solidFill>
                  <a:schemeClr val="bg1"/>
                </a:solidFill>
              </a:rPr>
              <a:t> (e.g., EU AI Act)</a:t>
            </a:r>
          </a:p>
          <a:p>
            <a:pPr marL="0" indent="0">
              <a:buNone/>
            </a:pPr>
            <a:r>
              <a:rPr lang="de-DE" sz="800" b="1" dirty="0">
                <a:solidFill>
                  <a:schemeClr val="bg1"/>
                </a:solidFill>
              </a:rPr>
              <a:t>Stage 2 – Policy Generation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>
                <a:solidFill>
                  <a:schemeClr val="bg1"/>
                </a:solidFill>
              </a:rPr>
              <a:t>ABAC </a:t>
            </a:r>
            <a:r>
              <a:rPr lang="de-DE" sz="800" dirty="0" err="1">
                <a:solidFill>
                  <a:schemeClr val="bg1"/>
                </a:solidFill>
              </a:rPr>
              <a:t>rules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>
                <a:solidFill>
                  <a:schemeClr val="bg1"/>
                </a:solidFill>
              </a:rPr>
              <a:t>Explicit </a:t>
            </a:r>
            <a:r>
              <a:rPr lang="de-DE" sz="800" dirty="0" err="1">
                <a:solidFill>
                  <a:schemeClr val="bg1"/>
                </a:solidFill>
              </a:rPr>
              <a:t>attribute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definition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>
                <a:solidFill>
                  <a:schemeClr val="bg1"/>
                </a:solidFill>
              </a:rPr>
              <a:t>Constraint </a:t>
            </a:r>
            <a:r>
              <a:rPr lang="de-DE" sz="800" dirty="0" err="1">
                <a:solidFill>
                  <a:schemeClr val="bg1"/>
                </a:solidFill>
              </a:rPr>
              <a:t>checking</a:t>
            </a:r>
            <a:endParaRPr lang="de-DE" sz="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800" b="1" dirty="0">
                <a:solidFill>
                  <a:schemeClr val="bg1"/>
                </a:solidFill>
              </a:rPr>
              <a:t>Stage 3 – Code generation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 err="1">
                <a:solidFill>
                  <a:schemeClr val="bg1"/>
                </a:solidFill>
              </a:rPr>
              <a:t>Formally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structured</a:t>
            </a:r>
            <a:r>
              <a:rPr lang="de-DE" sz="800" dirty="0">
                <a:solidFill>
                  <a:schemeClr val="bg1"/>
                </a:solidFill>
              </a:rPr>
              <a:t> output</a:t>
            </a:r>
          </a:p>
          <a:p>
            <a:r>
              <a:rPr lang="de-DE" sz="800" dirty="0">
                <a:solidFill>
                  <a:schemeClr val="bg1"/>
                </a:solidFill>
              </a:rPr>
              <a:t>Machine-</a:t>
            </a:r>
            <a:r>
              <a:rPr lang="de-DE" sz="800" dirty="0" err="1">
                <a:solidFill>
                  <a:schemeClr val="bg1"/>
                </a:solidFill>
              </a:rPr>
              <a:t>readable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format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 err="1">
                <a:solidFill>
                  <a:schemeClr val="bg1"/>
                </a:solidFill>
              </a:rPr>
              <a:t>Deterministic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templates</a:t>
            </a:r>
            <a:endParaRPr lang="de-DE" sz="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800" b="1" dirty="0">
                <a:solidFill>
                  <a:schemeClr val="bg1"/>
                </a:solidFill>
              </a:rPr>
              <a:t>Stage 4 – Verification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>
                <a:solidFill>
                  <a:schemeClr val="bg1"/>
                </a:solidFill>
              </a:rPr>
              <a:t>Human review loop</a:t>
            </a:r>
          </a:p>
          <a:p>
            <a:r>
              <a:rPr lang="de-DE" sz="800" dirty="0">
                <a:solidFill>
                  <a:schemeClr val="bg1"/>
                </a:solidFill>
              </a:rPr>
              <a:t>Cross-model </a:t>
            </a:r>
            <a:r>
              <a:rPr lang="de-DE" sz="800" dirty="0" err="1">
                <a:solidFill>
                  <a:schemeClr val="bg1"/>
                </a:solidFill>
              </a:rPr>
              <a:t>validation</a:t>
            </a:r>
            <a:endParaRPr lang="de-DE" sz="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8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ABB285C-0A3B-399B-CBCE-634A4B00A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3E4128F-B9AE-710F-6D78-E42A354F9EC7}"/>
              </a:ext>
            </a:extLst>
          </p:cNvPr>
          <p:cNvSpPr txBox="1"/>
          <p:nvPr/>
        </p:nvSpPr>
        <p:spPr>
          <a:xfrm>
            <a:off x="7283884" y="3258334"/>
            <a:ext cx="342754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800" b="1" dirty="0">
                <a:solidFill>
                  <a:srgbClr val="FFFF00"/>
                </a:solidFill>
              </a:rPr>
              <a:t>TBD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28EE589-6704-9697-2EA5-7D2A7962D227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163038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A2808A-D1F7-CF03-FA9C-90E93E95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de-DE" b="1" dirty="0" err="1">
                <a:solidFill>
                  <a:schemeClr val="bg1"/>
                </a:solidFill>
              </a:rPr>
              <a:t>Why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asynchronous</a:t>
            </a:r>
            <a:r>
              <a:rPr lang="de-DE" b="1" dirty="0">
                <a:solidFill>
                  <a:schemeClr val="bg1"/>
                </a:solidFill>
              </a:rPr>
              <a:t>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8AAC76-EA03-63FD-0E69-36D577C4C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 err="1">
                <a:solidFill>
                  <a:srgbClr val="E97132"/>
                </a:solidFill>
              </a:rPr>
              <a:t>Important</a:t>
            </a:r>
            <a:r>
              <a:rPr lang="de-DE" sz="2000" dirty="0">
                <a:solidFill>
                  <a:schemeClr val="bg1"/>
                </a:solidFill>
              </a:rPr>
              <a:t>:</a:t>
            </a:r>
          </a:p>
          <a:p>
            <a:r>
              <a:rPr lang="de-DE" sz="2000" dirty="0">
                <a:solidFill>
                  <a:schemeClr val="bg1"/>
                </a:solidFill>
              </a:rPr>
              <a:t>❌ No LLMs in the real-time </a:t>
            </a:r>
            <a:r>
              <a:rPr lang="de-DE" sz="2000" dirty="0" err="1">
                <a:solidFill>
                  <a:schemeClr val="bg1"/>
                </a:solidFill>
              </a:rPr>
              <a:t>access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path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dirty="0">
                <a:solidFill>
                  <a:schemeClr val="bg1"/>
                </a:solidFill>
              </a:rPr>
              <a:t>✔ Only for </a:t>
            </a:r>
            <a:r>
              <a:rPr lang="de-DE" sz="2000" dirty="0" err="1">
                <a:solidFill>
                  <a:schemeClr val="bg1"/>
                </a:solidFill>
              </a:rPr>
              <a:t>development</a:t>
            </a:r>
            <a:r>
              <a:rPr lang="de-DE" sz="2000" dirty="0">
                <a:solidFill>
                  <a:schemeClr val="bg1"/>
                </a:solidFill>
              </a:rPr>
              <a:t> and policy </a:t>
            </a:r>
            <a:r>
              <a:rPr lang="de-DE" sz="2000" dirty="0" err="1">
                <a:solidFill>
                  <a:schemeClr val="bg1"/>
                </a:solidFill>
              </a:rPr>
              <a:t>engineering</a:t>
            </a: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This results in:</a:t>
            </a:r>
          </a:p>
          <a:p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No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latency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issues</a:t>
            </a:r>
          </a:p>
          <a:p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No safety risk</a:t>
            </a:r>
          </a:p>
          <a:p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Better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auditability</a:t>
            </a:r>
            <a:endParaRPr lang="de-DE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8DA2DBD-CEAB-BE61-CFD3-638C931F9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64E1CDF-4C18-129A-A7AA-B304C93A3F5D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414848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9E07A8-36D4-C160-B2CE-5BD1B588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de-DE" b="1" dirty="0">
                <a:solidFill>
                  <a:schemeClr val="bg1"/>
                </a:solidFill>
              </a:rPr>
              <a:t>Results of the </a:t>
            </a:r>
            <a:r>
              <a:rPr lang="de-DE" b="1" dirty="0" err="1">
                <a:solidFill>
                  <a:schemeClr val="bg1"/>
                </a:solidFill>
              </a:rPr>
              <a:t>proof</a:t>
            </a:r>
            <a:r>
              <a:rPr lang="de-DE" b="1" dirty="0">
                <a:solidFill>
                  <a:schemeClr val="bg1"/>
                </a:solidFill>
              </a:rPr>
              <a:t> of concept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011EF5-F2E7-40DE-3B6F-07B54F445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We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were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able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to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demonstrate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High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resilience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to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hallucinations</a:t>
            </a:r>
            <a:endParaRPr lang="de-DE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Reproducible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policy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structures</a:t>
            </a:r>
            <a:endParaRPr lang="de-DE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Audit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trail-capable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outputs</a:t>
            </a:r>
          </a:p>
          <a:p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Transferability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to different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models</a:t>
            </a:r>
            <a:endParaRPr lang="de-DE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Minimization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of vendor lock-in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Particularly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important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EU AI Act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compliance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can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be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integrated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0E3AC3D-48CE-EB5F-42BF-013663CFC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41B9AE49-B98A-0D30-A98F-41E8AEC212EE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ED02F2C-3AE3-5017-C8BE-0516E04B0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63" y="895429"/>
            <a:ext cx="3261777" cy="485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6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E330EE-BBA2-B672-6EE6-A1627E08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e-DE" sz="4800" b="1" dirty="0">
                <a:solidFill>
                  <a:schemeClr val="bg1"/>
                </a:solidFill>
              </a:rPr>
              <a:t>Development </a:t>
            </a:r>
            <a:r>
              <a:rPr lang="de-DE" sz="4800" b="1" dirty="0" err="1">
                <a:solidFill>
                  <a:schemeClr val="bg1"/>
                </a:solidFill>
              </a:rPr>
              <a:t>trends</a:t>
            </a:r>
            <a:br>
              <a:rPr lang="de-DE" sz="3200" b="1" dirty="0">
                <a:solidFill>
                  <a:schemeClr val="bg1"/>
                </a:solidFill>
              </a:rPr>
            </a:br>
            <a:endParaRPr lang="de-DE" sz="32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EDE05-83DC-B8E5-3C1C-2465AFCF5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We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expect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2000" dirty="0">
                <a:solidFill>
                  <a:schemeClr val="bg1"/>
                </a:solidFill>
              </a:rPr>
              <a:t>Software-</a:t>
            </a:r>
            <a:r>
              <a:rPr lang="de-DE" sz="2000" dirty="0" err="1">
                <a:solidFill>
                  <a:schemeClr val="bg1"/>
                </a:solidFill>
              </a:rPr>
              <a:t>defined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vehicles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dirty="0">
                <a:solidFill>
                  <a:schemeClr val="bg1"/>
                </a:solidFill>
              </a:rPr>
              <a:t>Cross-company </a:t>
            </a:r>
            <a:r>
              <a:rPr lang="de-DE" sz="2000" dirty="0" err="1">
                <a:solidFill>
                  <a:schemeClr val="bg1"/>
                </a:solidFill>
              </a:rPr>
              <a:t>data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ecosystems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dirty="0" err="1">
                <a:solidFill>
                  <a:schemeClr val="bg1"/>
                </a:solidFill>
              </a:rPr>
              <a:t>Automated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compliance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checks</a:t>
            </a:r>
            <a:endParaRPr lang="de-DE" sz="2000" dirty="0">
              <a:solidFill>
                <a:schemeClr val="bg1"/>
              </a:solidFill>
            </a:endParaRPr>
          </a:p>
          <a:p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dirty="0">
                <a:solidFill>
                  <a:schemeClr val="bg1"/>
                </a:solidFill>
              </a:rPr>
              <a:t>AI-</a:t>
            </a:r>
            <a:r>
              <a:rPr lang="de-DE" sz="2000" dirty="0" err="1">
                <a:solidFill>
                  <a:schemeClr val="bg1"/>
                </a:solidFill>
              </a:rPr>
              <a:t>supported</a:t>
            </a:r>
            <a:r>
              <a:rPr lang="de-DE" sz="2000" dirty="0">
                <a:solidFill>
                  <a:schemeClr val="bg1"/>
                </a:solidFill>
              </a:rPr>
              <a:t> policy </a:t>
            </a:r>
            <a:r>
              <a:rPr lang="de-DE" sz="2000" dirty="0" err="1">
                <a:solidFill>
                  <a:schemeClr val="bg1"/>
                </a:solidFill>
              </a:rPr>
              <a:t>orchestration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dirty="0">
                <a:solidFill>
                  <a:schemeClr val="bg1"/>
                </a:solidFill>
              </a:rPr>
              <a:t>LLMs will not only </a:t>
            </a:r>
            <a:r>
              <a:rPr lang="de-DE" sz="2000" dirty="0" err="1">
                <a:solidFill>
                  <a:schemeClr val="bg1"/>
                </a:solidFill>
              </a:rPr>
              <a:t>write</a:t>
            </a:r>
            <a:r>
              <a:rPr lang="de-DE" sz="2000" dirty="0">
                <a:solidFill>
                  <a:schemeClr val="bg1"/>
                </a:solidFill>
              </a:rPr>
              <a:t> code, but also: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    support policy </a:t>
            </a:r>
            <a:r>
              <a:rPr lang="de-DE" sz="2000" dirty="0" err="1">
                <a:solidFill>
                  <a:schemeClr val="bg1"/>
                </a:solidFill>
              </a:rPr>
              <a:t>lifecycle</a:t>
            </a:r>
            <a:r>
              <a:rPr lang="de-DE" sz="2000" dirty="0">
                <a:solidFill>
                  <a:schemeClr val="bg1"/>
                </a:solidFill>
              </a:rPr>
              <a:t> management.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7E64BD8-4A24-940E-465C-1AE6113F6149}"/>
              </a:ext>
            </a:extLst>
          </p:cNvPr>
          <p:cNvSpPr/>
          <p:nvPr/>
        </p:nvSpPr>
        <p:spPr>
          <a:xfrm>
            <a:off x="5831840" y="3429000"/>
            <a:ext cx="5100320" cy="1722120"/>
          </a:xfrm>
          <a:prstGeom prst="rect">
            <a:avLst/>
          </a:prstGeom>
          <a:solidFill>
            <a:schemeClr val="accent3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AAA4A75-A714-B4C4-26C6-C39BB9293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4816B89-C99B-2FB3-EC5D-A6F40588B08E}"/>
              </a:ext>
            </a:extLst>
          </p:cNvPr>
          <p:cNvSpPr txBox="1"/>
          <p:nvPr/>
        </p:nvSpPr>
        <p:spPr>
          <a:xfrm>
            <a:off x="951545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418743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6E9C22-3962-11FA-B37B-E0154514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e-DE" sz="4800" b="1" dirty="0">
                <a:solidFill>
                  <a:schemeClr val="bg1"/>
                </a:solidFill>
              </a:rPr>
              <a:t>Possible </a:t>
            </a:r>
            <a:r>
              <a:rPr lang="de-DE" sz="4800" b="1" dirty="0" err="1">
                <a:solidFill>
                  <a:schemeClr val="bg1"/>
                </a:solidFill>
              </a:rPr>
              <a:t>further</a:t>
            </a:r>
            <a:r>
              <a:rPr lang="de-DE" sz="4800" b="1" dirty="0">
                <a:solidFill>
                  <a:schemeClr val="bg1"/>
                </a:solidFill>
              </a:rPr>
              <a:t> </a:t>
            </a:r>
            <a:r>
              <a:rPr lang="de-DE" sz="4800" b="1" dirty="0" err="1">
                <a:solidFill>
                  <a:schemeClr val="bg1"/>
                </a:solidFill>
              </a:rPr>
              <a:t>developments</a:t>
            </a:r>
            <a:endParaRPr lang="de-DE" sz="48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75F3FA-8DAE-D111-8BCF-1CD6F5D66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Combination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with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formal verification methods</a:t>
            </a:r>
          </a:p>
          <a:p>
            <a:r>
              <a:rPr lang="de-DE" sz="2000" dirty="0">
                <a:solidFill>
                  <a:schemeClr val="bg1"/>
                </a:solidFill>
              </a:rPr>
              <a:t>Integration into CI/CD </a:t>
            </a:r>
            <a:r>
              <a:rPr lang="de-DE" sz="2000" dirty="0" err="1">
                <a:solidFill>
                  <a:schemeClr val="bg1"/>
                </a:solidFill>
              </a:rPr>
              <a:t>pipelines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Hybrid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models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(LLM +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symbolic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engines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)</a:t>
            </a:r>
          </a:p>
          <a:p>
            <a:r>
              <a:rPr lang="de-DE" sz="2000" dirty="0" err="1">
                <a:solidFill>
                  <a:schemeClr val="bg1"/>
                </a:solidFill>
              </a:rPr>
              <a:t>Standardization</a:t>
            </a:r>
            <a:r>
              <a:rPr lang="de-DE" sz="2000" dirty="0">
                <a:solidFill>
                  <a:schemeClr val="bg1"/>
                </a:solidFill>
              </a:rPr>
              <a:t> in </a:t>
            </a:r>
            <a:r>
              <a:rPr lang="de-DE" sz="2000" dirty="0" err="1">
                <a:solidFill>
                  <a:schemeClr val="bg1"/>
                </a:solidFill>
              </a:rPr>
              <a:t>automotive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data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spaces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Certifiable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AI-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assisted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engineering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processes</a:t>
            </a:r>
            <a:endParaRPr lang="de-DE" sz="20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9D8832D-E8EB-B65E-EB88-814FBBF3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DBAD1D7-EEBE-8984-5F2D-587CEE110F12}"/>
              </a:ext>
            </a:extLst>
          </p:cNvPr>
          <p:cNvSpPr txBox="1"/>
          <p:nvPr/>
        </p:nvSpPr>
        <p:spPr>
          <a:xfrm>
            <a:off x="951545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189887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CFBE14-596D-47F1-1496-530D4532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e-DE" sz="4800" b="1" dirty="0">
                <a:solidFill>
                  <a:schemeClr val="bg1"/>
                </a:solidFill>
              </a:rPr>
              <a:t>Risks of the </a:t>
            </a:r>
            <a:r>
              <a:rPr lang="de-DE" sz="4800" b="1" dirty="0" err="1">
                <a:solidFill>
                  <a:schemeClr val="bg1"/>
                </a:solidFill>
              </a:rPr>
              <a:t>future</a:t>
            </a:r>
            <a:br>
              <a:rPr lang="de-DE" sz="6800" b="1" dirty="0">
                <a:solidFill>
                  <a:schemeClr val="bg1"/>
                </a:solidFill>
              </a:rPr>
            </a:br>
            <a:endParaRPr lang="de-DE" sz="68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557EA4-E8E1-8C3C-9B91-623A033F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 dirty="0" err="1">
                <a:solidFill>
                  <a:srgbClr val="E97132"/>
                </a:solidFill>
              </a:rPr>
              <a:t>If</a:t>
            </a:r>
            <a:r>
              <a:rPr lang="de-DE" sz="2000" b="1" dirty="0">
                <a:solidFill>
                  <a:srgbClr val="E97132"/>
                </a:solidFill>
              </a:rPr>
              <a:t> </a:t>
            </a:r>
            <a:r>
              <a:rPr lang="de-DE" sz="2000" b="1" dirty="0" err="1">
                <a:solidFill>
                  <a:srgbClr val="E97132"/>
                </a:solidFill>
              </a:rPr>
              <a:t>used</a:t>
            </a:r>
            <a:r>
              <a:rPr lang="de-DE" sz="2000" b="1" dirty="0">
                <a:solidFill>
                  <a:srgbClr val="E97132"/>
                </a:solidFill>
              </a:rPr>
              <a:t> without </a:t>
            </a:r>
            <a:r>
              <a:rPr lang="de-DE" sz="2000" b="1" dirty="0" err="1">
                <a:solidFill>
                  <a:srgbClr val="E97132"/>
                </a:solidFill>
              </a:rPr>
              <a:t>control</a:t>
            </a:r>
            <a:r>
              <a:rPr lang="de-DE" sz="2000" b="1" dirty="0">
                <a:solidFill>
                  <a:srgbClr val="E97132"/>
                </a:solidFill>
              </a:rPr>
              <a:t>:</a:t>
            </a:r>
          </a:p>
          <a:p>
            <a:r>
              <a:rPr lang="de-DE" sz="2000" dirty="0">
                <a:solidFill>
                  <a:srgbClr val="E97132"/>
                </a:solidFill>
              </a:rPr>
              <a:t>Non-transparent policy </a:t>
            </a:r>
            <a:r>
              <a:rPr lang="de-DE" sz="2000" dirty="0" err="1">
                <a:solidFill>
                  <a:srgbClr val="E97132"/>
                </a:solidFill>
              </a:rPr>
              <a:t>logic</a:t>
            </a:r>
            <a:endParaRPr lang="de-DE" sz="2000" dirty="0">
              <a:solidFill>
                <a:srgbClr val="E97132"/>
              </a:solidFill>
            </a:endParaRPr>
          </a:p>
          <a:p>
            <a:r>
              <a:rPr lang="de-DE" sz="2000" dirty="0">
                <a:solidFill>
                  <a:srgbClr val="E97132"/>
                </a:solidFill>
              </a:rPr>
              <a:t>Non-</a:t>
            </a:r>
            <a:r>
              <a:rPr lang="de-DE" sz="2000" dirty="0" err="1">
                <a:solidFill>
                  <a:srgbClr val="E97132"/>
                </a:solidFill>
              </a:rPr>
              <a:t>deterministic</a:t>
            </a:r>
            <a:r>
              <a:rPr lang="de-DE" sz="2000" dirty="0">
                <a:solidFill>
                  <a:srgbClr val="E97132"/>
                </a:solidFill>
              </a:rPr>
              <a:t> systems</a:t>
            </a:r>
          </a:p>
          <a:p>
            <a:r>
              <a:rPr lang="de-DE" sz="2000" dirty="0">
                <a:solidFill>
                  <a:srgbClr val="E97132"/>
                </a:solidFill>
              </a:rPr>
              <a:t>Regulatory </a:t>
            </a:r>
            <a:r>
              <a:rPr lang="de-DE" sz="2000" dirty="0" err="1">
                <a:solidFill>
                  <a:srgbClr val="E97132"/>
                </a:solidFill>
              </a:rPr>
              <a:t>blockages</a:t>
            </a:r>
            <a:endParaRPr lang="de-DE" sz="2000" dirty="0">
              <a:solidFill>
                <a:srgbClr val="E97132"/>
              </a:solidFill>
            </a:endParaRPr>
          </a:p>
          <a:p>
            <a:r>
              <a:rPr lang="de-DE" sz="2000" dirty="0">
                <a:solidFill>
                  <a:srgbClr val="E97132"/>
                </a:solidFill>
              </a:rPr>
              <a:t>Loss of trust in AI systems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The </a:t>
            </a:r>
            <a:r>
              <a:rPr lang="de-DE" sz="2000" dirty="0" err="1">
                <a:solidFill>
                  <a:schemeClr val="bg1"/>
                </a:solidFill>
              </a:rPr>
              <a:t>question</a:t>
            </a:r>
            <a:r>
              <a:rPr lang="de-DE" sz="2000" dirty="0">
                <a:solidFill>
                  <a:schemeClr val="bg1"/>
                </a:solidFill>
              </a:rPr>
              <a:t> is not:</a:t>
            </a:r>
          </a:p>
          <a:p>
            <a:r>
              <a:rPr lang="de-DE" sz="2000" dirty="0" err="1">
                <a:solidFill>
                  <a:schemeClr val="bg1"/>
                </a:solidFill>
              </a:rPr>
              <a:t>whether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we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use</a:t>
            </a:r>
            <a:r>
              <a:rPr lang="de-DE" sz="2000" dirty="0">
                <a:solidFill>
                  <a:schemeClr val="bg1"/>
                </a:solidFill>
              </a:rPr>
              <a:t> LLMs</a:t>
            </a:r>
          </a:p>
          <a:p>
            <a:pPr marL="0" indent="0">
              <a:buNone/>
            </a:pPr>
            <a:r>
              <a:rPr lang="de-DE" sz="2000" b="1" dirty="0">
                <a:solidFill>
                  <a:schemeClr val="bg1"/>
                </a:solidFill>
              </a:rPr>
              <a:t>but</a:t>
            </a:r>
            <a:r>
              <a:rPr lang="de-DE" sz="2000" dirty="0">
                <a:solidFill>
                  <a:schemeClr val="bg1"/>
                </a:solidFill>
              </a:rPr>
              <a:t>:</a:t>
            </a:r>
          </a:p>
          <a:p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how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we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structure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and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control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them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6664417-10BB-0981-5FBD-09F9125EF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6B39B80-8612-1EEE-AD43-1B0BA6DFFF2D}"/>
              </a:ext>
            </a:extLst>
          </p:cNvPr>
          <p:cNvSpPr txBox="1"/>
          <p:nvPr/>
        </p:nvSpPr>
        <p:spPr>
          <a:xfrm>
            <a:off x="951545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349441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1B5359D-771D-81D9-95A0-776D9EAF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de-DE" sz="4800" b="1" dirty="0" err="1">
                <a:solidFill>
                  <a:schemeClr val="bg1"/>
                </a:solidFill>
              </a:rPr>
              <a:t>Recommendation</a:t>
            </a:r>
            <a:r>
              <a:rPr lang="de-DE" sz="4800" b="1" dirty="0">
                <a:solidFill>
                  <a:schemeClr val="bg1"/>
                </a:solidFill>
              </a:rPr>
              <a:t> for </a:t>
            </a:r>
            <a:r>
              <a:rPr lang="de-DE" sz="4800" b="1" dirty="0" err="1">
                <a:solidFill>
                  <a:schemeClr val="bg1"/>
                </a:solidFill>
              </a:rPr>
              <a:t>industry</a:t>
            </a:r>
            <a:r>
              <a:rPr lang="de-DE" sz="4800" b="1" dirty="0">
                <a:solidFill>
                  <a:schemeClr val="bg1"/>
                </a:solidFill>
              </a:rPr>
              <a:t> &amp; </a:t>
            </a:r>
            <a:r>
              <a:rPr lang="de-DE" sz="4800" b="1" dirty="0" err="1">
                <a:solidFill>
                  <a:schemeClr val="bg1"/>
                </a:solidFill>
              </a:rPr>
              <a:t>research</a:t>
            </a:r>
            <a:br>
              <a:rPr lang="de-DE" sz="4800" b="1" dirty="0">
                <a:solidFill>
                  <a:schemeClr val="bg1"/>
                </a:solidFill>
              </a:rPr>
            </a:b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8936F2-2EC2-D3C5-F93A-20516F4CC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1800" b="1" dirty="0">
                <a:solidFill>
                  <a:schemeClr val="bg1"/>
                </a:solidFill>
              </a:rPr>
              <a:t>1️⃣ Only </a:t>
            </a:r>
            <a:r>
              <a:rPr lang="de-DE" sz="1800" b="1" dirty="0" err="1">
                <a:solidFill>
                  <a:schemeClr val="bg1"/>
                </a:solidFill>
              </a:rPr>
              <a:t>use</a:t>
            </a:r>
            <a:r>
              <a:rPr lang="de-DE" sz="1800" b="1" dirty="0">
                <a:solidFill>
                  <a:schemeClr val="bg1"/>
                </a:solidFill>
              </a:rPr>
              <a:t> LLMs in the </a:t>
            </a:r>
            <a:r>
              <a:rPr lang="de-DE" sz="1800" b="1" dirty="0" err="1">
                <a:solidFill>
                  <a:schemeClr val="bg1"/>
                </a:solidFill>
              </a:rPr>
              <a:t>engineering</a:t>
            </a:r>
            <a:r>
              <a:rPr lang="de-DE" sz="1800" b="1" dirty="0">
                <a:solidFill>
                  <a:schemeClr val="bg1"/>
                </a:solidFill>
              </a:rPr>
              <a:t> </a:t>
            </a:r>
            <a:r>
              <a:rPr lang="de-DE" sz="1800" b="1" dirty="0" err="1">
                <a:solidFill>
                  <a:schemeClr val="bg1"/>
                </a:solidFill>
              </a:rPr>
              <a:t>layer</a:t>
            </a:r>
            <a:endParaRPr lang="de-DE" sz="1800" b="1" dirty="0">
              <a:solidFill>
                <a:schemeClr val="bg1"/>
              </a:solidFill>
            </a:endParaRPr>
          </a:p>
          <a:p>
            <a:r>
              <a:rPr lang="de-DE" sz="1800" dirty="0">
                <a:solidFill>
                  <a:schemeClr val="bg1"/>
                </a:solidFill>
              </a:rPr>
              <a:t>Not in the </a:t>
            </a:r>
            <a:r>
              <a:rPr lang="de-DE" sz="1800" dirty="0" err="1">
                <a:solidFill>
                  <a:schemeClr val="bg1"/>
                </a:solidFill>
              </a:rPr>
              <a:t>enforcement</a:t>
            </a:r>
            <a:r>
              <a:rPr lang="de-DE" sz="1800" dirty="0">
                <a:solidFill>
                  <a:schemeClr val="bg1"/>
                </a:solidFill>
              </a:rPr>
              <a:t> </a:t>
            </a:r>
            <a:r>
              <a:rPr lang="de-DE" sz="1800" dirty="0" err="1">
                <a:solidFill>
                  <a:schemeClr val="bg1"/>
                </a:solidFill>
              </a:rPr>
              <a:t>layer</a:t>
            </a:r>
            <a:r>
              <a:rPr lang="de-DE" sz="1800" dirty="0">
                <a:solidFill>
                  <a:schemeClr val="bg1"/>
                </a:solidFill>
              </a:rPr>
              <a:t>.</a:t>
            </a:r>
          </a:p>
          <a:p>
            <a:endParaRPr lang="de-DE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800" b="1" dirty="0">
                <a:solidFill>
                  <a:schemeClr val="bg1"/>
                </a:solidFill>
              </a:rPr>
              <a:t>2️⃣ Multi-stage </a:t>
            </a:r>
            <a:r>
              <a:rPr lang="de-DE" sz="1800" b="1" dirty="0" err="1">
                <a:solidFill>
                  <a:schemeClr val="bg1"/>
                </a:solidFill>
              </a:rPr>
              <a:t>instead</a:t>
            </a:r>
            <a:r>
              <a:rPr lang="de-DE" sz="1800" b="1" dirty="0">
                <a:solidFill>
                  <a:schemeClr val="bg1"/>
                </a:solidFill>
              </a:rPr>
              <a:t> of </a:t>
            </a:r>
            <a:r>
              <a:rPr lang="de-DE" sz="1800" b="1" dirty="0" err="1">
                <a:solidFill>
                  <a:schemeClr val="bg1"/>
                </a:solidFill>
              </a:rPr>
              <a:t>one-shot</a:t>
            </a:r>
            <a:endParaRPr lang="de-DE" sz="1800" b="1" dirty="0">
              <a:solidFill>
                <a:schemeClr val="bg1"/>
              </a:solidFill>
            </a:endParaRPr>
          </a:p>
          <a:p>
            <a:r>
              <a:rPr lang="de-DE" sz="1800" dirty="0">
                <a:solidFill>
                  <a:schemeClr val="bg1"/>
                </a:solidFill>
              </a:rPr>
              <a:t>No </a:t>
            </a:r>
            <a:r>
              <a:rPr lang="de-DE" sz="1800" dirty="0" err="1">
                <a:solidFill>
                  <a:schemeClr val="bg1"/>
                </a:solidFill>
              </a:rPr>
              <a:t>direct</a:t>
            </a:r>
            <a:r>
              <a:rPr lang="de-DE" sz="1800" dirty="0">
                <a:solidFill>
                  <a:schemeClr val="bg1"/>
                </a:solidFill>
              </a:rPr>
              <a:t> code </a:t>
            </a:r>
            <a:r>
              <a:rPr lang="de-DE" sz="1800" dirty="0" err="1">
                <a:solidFill>
                  <a:schemeClr val="bg1"/>
                </a:solidFill>
              </a:rPr>
              <a:t>prompts</a:t>
            </a:r>
            <a:r>
              <a:rPr lang="de-DE" sz="1800" dirty="0">
                <a:solidFill>
                  <a:schemeClr val="bg1"/>
                </a:solidFill>
              </a:rPr>
              <a:t> without risk analysis.</a:t>
            </a:r>
          </a:p>
          <a:p>
            <a:endParaRPr lang="de-DE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800" b="1" dirty="0">
                <a:solidFill>
                  <a:schemeClr val="bg1"/>
                </a:solidFill>
              </a:rPr>
              <a:t>3️⃣ Human-in-the-loop mandatory</a:t>
            </a:r>
          </a:p>
          <a:p>
            <a:r>
              <a:rPr lang="de-DE" sz="1800" dirty="0" err="1">
                <a:solidFill>
                  <a:schemeClr val="bg1"/>
                </a:solidFill>
              </a:rPr>
              <a:t>Especially</a:t>
            </a:r>
            <a:r>
              <a:rPr lang="de-DE" sz="1800" dirty="0">
                <a:solidFill>
                  <a:schemeClr val="bg1"/>
                </a:solidFill>
              </a:rPr>
              <a:t> for safety-critical systems.</a:t>
            </a:r>
          </a:p>
          <a:p>
            <a:endParaRPr lang="de-DE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800" b="1" dirty="0">
                <a:solidFill>
                  <a:schemeClr val="bg1"/>
                </a:solidFill>
              </a:rPr>
              <a:t>4️⃣ </a:t>
            </a:r>
            <a:r>
              <a:rPr lang="de-DE" sz="1800" b="1" dirty="0" err="1">
                <a:solidFill>
                  <a:schemeClr val="bg1"/>
                </a:solidFill>
              </a:rPr>
              <a:t>Enforce</a:t>
            </a:r>
            <a:r>
              <a:rPr lang="de-DE" sz="1800" b="1" dirty="0">
                <a:solidFill>
                  <a:schemeClr val="bg1"/>
                </a:solidFill>
              </a:rPr>
              <a:t> </a:t>
            </a:r>
            <a:r>
              <a:rPr lang="de-DE" sz="1800" b="1" dirty="0" err="1">
                <a:solidFill>
                  <a:schemeClr val="bg1"/>
                </a:solidFill>
              </a:rPr>
              <a:t>strict</a:t>
            </a:r>
            <a:r>
              <a:rPr lang="de-DE" sz="1800" b="1" dirty="0">
                <a:solidFill>
                  <a:schemeClr val="bg1"/>
                </a:solidFill>
              </a:rPr>
              <a:t> output </a:t>
            </a:r>
            <a:r>
              <a:rPr lang="de-DE" sz="1800" b="1" dirty="0" err="1">
                <a:solidFill>
                  <a:schemeClr val="bg1"/>
                </a:solidFill>
              </a:rPr>
              <a:t>formats</a:t>
            </a:r>
            <a:endParaRPr lang="de-DE" sz="1800" b="1" dirty="0">
              <a:solidFill>
                <a:schemeClr val="bg1"/>
              </a:solidFill>
            </a:endParaRPr>
          </a:p>
          <a:p>
            <a:r>
              <a:rPr lang="de-DE" sz="1800" dirty="0">
                <a:solidFill>
                  <a:schemeClr val="bg1"/>
                </a:solidFill>
              </a:rPr>
              <a:t>Machine-</a:t>
            </a:r>
            <a:r>
              <a:rPr lang="de-DE" sz="1800" dirty="0" err="1">
                <a:solidFill>
                  <a:schemeClr val="bg1"/>
                </a:solidFill>
              </a:rPr>
              <a:t>readable</a:t>
            </a:r>
            <a:r>
              <a:rPr lang="de-DE" sz="1800" dirty="0">
                <a:solidFill>
                  <a:schemeClr val="bg1"/>
                </a:solidFill>
              </a:rPr>
              <a:t> policies </a:t>
            </a:r>
            <a:r>
              <a:rPr lang="de-DE" sz="1800" dirty="0" err="1">
                <a:solidFill>
                  <a:schemeClr val="bg1"/>
                </a:solidFill>
              </a:rPr>
              <a:t>instead</a:t>
            </a:r>
            <a:r>
              <a:rPr lang="de-DE" sz="1800" dirty="0">
                <a:solidFill>
                  <a:schemeClr val="bg1"/>
                </a:solidFill>
              </a:rPr>
              <a:t> of </a:t>
            </a:r>
            <a:r>
              <a:rPr lang="de-DE" sz="1800" dirty="0" err="1">
                <a:solidFill>
                  <a:schemeClr val="bg1"/>
                </a:solidFill>
              </a:rPr>
              <a:t>continuous</a:t>
            </a:r>
            <a:r>
              <a:rPr lang="de-DE" sz="1800" dirty="0">
                <a:solidFill>
                  <a:schemeClr val="bg1"/>
                </a:solidFill>
              </a:rPr>
              <a:t> </a:t>
            </a:r>
            <a:r>
              <a:rPr lang="de-DE" sz="1800" dirty="0" err="1">
                <a:solidFill>
                  <a:schemeClr val="bg1"/>
                </a:solidFill>
              </a:rPr>
              <a:t>text</a:t>
            </a:r>
            <a:r>
              <a:rPr lang="de-DE" sz="1800" dirty="0">
                <a:solidFill>
                  <a:schemeClr val="bg1"/>
                </a:solidFill>
              </a:rPr>
              <a:t>.</a:t>
            </a:r>
          </a:p>
          <a:p>
            <a:endParaRPr lang="de-DE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800" b="1" dirty="0">
                <a:solidFill>
                  <a:schemeClr val="bg1"/>
                </a:solidFill>
              </a:rPr>
              <a:t>5️⃣ </a:t>
            </a:r>
            <a:r>
              <a:rPr lang="de-DE" sz="1800" b="1" dirty="0" err="1">
                <a:solidFill>
                  <a:schemeClr val="bg1"/>
                </a:solidFill>
              </a:rPr>
              <a:t>Auditability</a:t>
            </a:r>
            <a:r>
              <a:rPr lang="de-DE" sz="1800" b="1" dirty="0">
                <a:solidFill>
                  <a:schemeClr val="bg1"/>
                </a:solidFill>
              </a:rPr>
              <a:t> </a:t>
            </a:r>
            <a:r>
              <a:rPr lang="de-DE" sz="1800" b="1" dirty="0" err="1">
                <a:solidFill>
                  <a:schemeClr val="bg1"/>
                </a:solidFill>
              </a:rPr>
              <a:t>as</a:t>
            </a:r>
            <a:r>
              <a:rPr lang="de-DE" sz="1800" b="1" dirty="0">
                <a:solidFill>
                  <a:schemeClr val="bg1"/>
                </a:solidFill>
              </a:rPr>
              <a:t> a design </a:t>
            </a:r>
            <a:r>
              <a:rPr lang="de-DE" sz="1800" b="1" dirty="0" err="1">
                <a:solidFill>
                  <a:schemeClr val="bg1"/>
                </a:solidFill>
              </a:rPr>
              <a:t>principle</a:t>
            </a:r>
            <a:endParaRPr lang="de-DE" sz="1800" b="1" dirty="0">
              <a:solidFill>
                <a:schemeClr val="bg1"/>
              </a:solidFill>
            </a:endParaRPr>
          </a:p>
          <a:p>
            <a:r>
              <a:rPr lang="de-DE" sz="1800" dirty="0">
                <a:solidFill>
                  <a:schemeClr val="bg1"/>
                </a:solidFill>
              </a:rPr>
              <a:t>Every prompt = </a:t>
            </a:r>
            <a:r>
              <a:rPr lang="de-DE" sz="1800" dirty="0" err="1">
                <a:solidFill>
                  <a:schemeClr val="bg1"/>
                </a:solidFill>
              </a:rPr>
              <a:t>traceable</a:t>
            </a:r>
            <a:r>
              <a:rPr lang="de-DE" sz="1800" dirty="0">
                <a:solidFill>
                  <a:schemeClr val="bg1"/>
                </a:solidFill>
              </a:rPr>
              <a:t> </a:t>
            </a:r>
            <a:r>
              <a:rPr lang="de-DE" sz="1800" dirty="0" err="1">
                <a:solidFill>
                  <a:schemeClr val="bg1"/>
                </a:solidFill>
              </a:rPr>
              <a:t>artifact</a:t>
            </a:r>
            <a:r>
              <a:rPr lang="de-DE" sz="1800" dirty="0">
                <a:solidFill>
                  <a:schemeClr val="bg1"/>
                </a:solidFill>
              </a:rPr>
              <a:t>.</a:t>
            </a:r>
          </a:p>
          <a:p>
            <a:endParaRPr lang="de-DE" sz="18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35F53C-6B82-6DD9-61E6-B86106D18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F09AEA5-60BD-DCDA-38F9-9284758DD4CF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370097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42CAA6-4AEC-C677-4180-B55376A2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 fontScale="90000"/>
          </a:bodyPr>
          <a:lstStyle/>
          <a:p>
            <a:pPr algn="r"/>
            <a:r>
              <a:rPr lang="de-DE" sz="5300" b="1" dirty="0">
                <a:solidFill>
                  <a:schemeClr val="bg1"/>
                </a:solidFill>
              </a:rPr>
              <a:t>Key </a:t>
            </a:r>
            <a:r>
              <a:rPr lang="de-DE" sz="5300" b="1" dirty="0" err="1">
                <a:solidFill>
                  <a:schemeClr val="bg1"/>
                </a:solidFill>
              </a:rPr>
              <a:t>message</a:t>
            </a:r>
            <a:br>
              <a:rPr lang="de-DE" b="1" dirty="0">
                <a:solidFill>
                  <a:schemeClr val="bg1"/>
                </a:solidFill>
              </a:rPr>
            </a:b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7A8A0F-1993-550F-5D64-4147DD2D3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>
                <a:solidFill>
                  <a:srgbClr val="E97132"/>
                </a:solidFill>
              </a:rPr>
              <a:t>LLMs are not a substitute for security engineering.</a:t>
            </a:r>
            <a:br>
              <a:rPr lang="de-DE" sz="2000" b="1" dirty="0">
                <a:solidFill>
                  <a:schemeClr val="bg1"/>
                </a:solidFill>
              </a:rPr>
            </a:br>
            <a:endParaRPr lang="de-DE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But when used in a structured way, they can be a powerful tool.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Our proof of concept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shows</a:t>
            </a:r>
            <a:r>
              <a:rPr lang="de-DE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that</a:t>
            </a:r>
            <a:endParaRPr lang="de-DE" sz="20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457200" lvl="1" indent="0">
              <a:buNone/>
            </a:pP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✔ Robustness is possible</a:t>
            </a:r>
            <a:b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✔ Compliance can be integrated</a:t>
            </a:r>
            <a:b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✔ Safety remains unaffected</a:t>
            </a:r>
            <a:b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✔ Developer pitfalls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are</a:t>
            </a:r>
            <a:r>
              <a:rPr lang="de-DE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manageable</a:t>
            </a:r>
            <a:endParaRPr lang="de-DE" sz="2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146A639-31E5-901E-7FCD-64BA761E7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2380BFA-4F56-3FFD-0768-ADF4530198A3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121816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7">
            <a:extLst>
              <a:ext uri="{FF2B5EF4-FFF2-40B4-BE49-F238E27FC236}">
                <a16:creationId xmlns:a16="http://schemas.microsoft.com/office/drawing/2014/main" id="{DDC95FA9-076A-421D-93A3-9C29819EB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0A6C8D94-3813-4D93-A6A7-A97EFFBCF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11">
            <a:extLst>
              <a:ext uri="{FF2B5EF4-FFF2-40B4-BE49-F238E27FC236}">
                <a16:creationId xmlns:a16="http://schemas.microsoft.com/office/drawing/2014/main" id="{3794673D-8563-4993-8E86-6D89D6E97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8906114-25F0-4386-BC12-A5CB6A04F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9434651-094A-4780-979E-29A3042F5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5BDC44-59B0-48DF-871F-0881BB593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18FCF5-B341-43DF-A055-DC56EA920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9408E04-9221-499E-B0F3-3AFD9025F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7B1604-40F1-4335-8A11-6091E0F52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B064600-7234-E40B-92E4-21D2ECD3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875" y="630935"/>
            <a:ext cx="7315200" cy="2174417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b="1" dirty="0" err="1">
                <a:solidFill>
                  <a:schemeClr val="bg1"/>
                </a:solidFill>
              </a:rPr>
              <a:t>Thank</a:t>
            </a:r>
            <a:r>
              <a:rPr lang="de-DE" sz="4800" b="1" dirty="0">
                <a:solidFill>
                  <a:schemeClr val="bg1"/>
                </a:solidFill>
              </a:rPr>
              <a:t> </a:t>
            </a:r>
            <a:r>
              <a:rPr lang="de-DE" sz="4800" b="1" dirty="0" err="1">
                <a:solidFill>
                  <a:schemeClr val="bg1"/>
                </a:solidFill>
              </a:rPr>
              <a:t>you</a:t>
            </a:r>
            <a:r>
              <a:rPr lang="de-DE" sz="4800" b="1" dirty="0">
                <a:solidFill>
                  <a:schemeClr val="bg1"/>
                </a:solidFill>
              </a:rPr>
              <a:t> </a:t>
            </a:r>
            <a:r>
              <a:rPr lang="de-DE" sz="4800" b="1" dirty="0" err="1">
                <a:solidFill>
                  <a:schemeClr val="bg1"/>
                </a:solidFill>
              </a:rPr>
              <a:t>very</a:t>
            </a:r>
            <a:r>
              <a:rPr lang="de-DE" sz="4800" b="1" dirty="0">
                <a:solidFill>
                  <a:schemeClr val="bg1"/>
                </a:solidFill>
              </a:rPr>
              <a:t> </a:t>
            </a:r>
            <a:r>
              <a:rPr lang="de-DE" sz="4800" b="1" dirty="0" err="1">
                <a:solidFill>
                  <a:schemeClr val="bg1"/>
                </a:solidFill>
              </a:rPr>
              <a:t>much</a:t>
            </a:r>
            <a:r>
              <a:rPr lang="de-DE" sz="4800" b="1" dirty="0">
                <a:solidFill>
                  <a:schemeClr val="bg1"/>
                </a:solidFill>
              </a:rPr>
              <a:t>!</a:t>
            </a:r>
            <a:br>
              <a:rPr lang="de-DE" sz="4800" dirty="0">
                <a:solidFill>
                  <a:schemeClr val="bg1"/>
                </a:solidFill>
              </a:rPr>
            </a:b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00467E-A507-4BEF-AAB5-2B35F13FA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BCCBFD-2A87-46DC-A665-6039BF72D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707DB8-2262-4E11-B8E7-A0042E439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DCA04D0-796D-4920-BED4-627870868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8B0366-955C-44C5-B011-378E1994D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8F216F-4DA3-4165-A786-E7F2710B8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5E35C12-B6B4-4F57-950C-6EB3CD8F4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14810E-84F3-4F8A-AF58-F452B9815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687E051-F20C-4A55-AEDD-ED9B2D996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F834F70-7A0E-4202-8ECC-5EE81C93C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2993E0E-3E7B-48D8-A799-39FECD3E1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B12773A-5C03-4DD5-B9B4-24F4A429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8" name="Inhaltsplatzhalter 2">
            <a:extLst>
              <a:ext uri="{FF2B5EF4-FFF2-40B4-BE49-F238E27FC236}">
                <a16:creationId xmlns:a16="http://schemas.microsoft.com/office/drawing/2014/main" id="{E05D9AB7-5582-3D5B-DCA4-AED392D90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4118"/>
              </p:ext>
            </p:extLst>
          </p:nvPr>
        </p:nvGraphicFramePr>
        <p:xfrm>
          <a:off x="2397008" y="2919371"/>
          <a:ext cx="7315200" cy="2531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E6893AD4-70EF-4CD2-2DB6-DC0C12D6549D}"/>
              </a:ext>
            </a:extLst>
          </p:cNvPr>
          <p:cNvSpPr txBox="1"/>
          <p:nvPr/>
        </p:nvSpPr>
        <p:spPr>
          <a:xfrm>
            <a:off x="3306797" y="5934735"/>
            <a:ext cx="5546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Thomas Walloschke </a:t>
            </a:r>
            <a:r>
              <a:rPr lang="de-DE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thomas.walloschke@secon-tc.eu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Dr. Michael Schmitt </a:t>
            </a:r>
            <a:r>
              <a:rPr lang="de-DE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m.schmitt@sap.com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58999B4-448E-DEFC-6561-87C31FD1EC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97A0B49-E09F-6950-258C-D8A3DC340932}"/>
              </a:ext>
            </a:extLst>
          </p:cNvPr>
          <p:cNvSpPr txBox="1"/>
          <p:nvPr/>
        </p:nvSpPr>
        <p:spPr>
          <a:xfrm>
            <a:off x="4381674" y="2129204"/>
            <a:ext cx="3482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IEEE Webinar “Mind the Gaps”, 2026-03-04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734694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Breitbild</PresentationFormat>
  <Paragraphs>113</Paragraphs>
  <Slides>10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Our proof-of-concept approach </vt:lpstr>
      <vt:lpstr>Architecture overview</vt:lpstr>
      <vt:lpstr>Why asynchronous?</vt:lpstr>
      <vt:lpstr>Results of the proof of concept</vt:lpstr>
      <vt:lpstr>Development trends </vt:lpstr>
      <vt:lpstr>Possible further developments</vt:lpstr>
      <vt:lpstr>Risks of the future </vt:lpstr>
      <vt:lpstr>Recommendation for industry &amp; research </vt:lpstr>
      <vt:lpstr>Key message </vt:lpstr>
      <vt:lpstr>Thank you very much!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Walloschke, Thomas</dc:creator>
  <cp:keywords>, docId:CE9C6AC0B9E94DEED35FB7EC441CE82A</cp:keywords>
  <cp:lastModifiedBy>Walloschke, Thomas</cp:lastModifiedBy>
  <cp:revision>41</cp:revision>
  <dcterms:created xsi:type="dcterms:W3CDTF">2026-02-25T10:10:23Z</dcterms:created>
  <dcterms:modified xsi:type="dcterms:W3CDTF">2026-02-27T22:42:37Z</dcterms:modified>
</cp:coreProperties>
</file>